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rgbClr val="EDE9E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D6D4CC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EDE9E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D6D4CC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EDE9E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D6D4CC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EDE9E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D6D4CC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00000">
              <a:alpha val="4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D6D4CC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708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457263"/>
            <a:ext cx="10893425" cy="3342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rgbClr val="EDE9E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80812" y="6510539"/>
            <a:ext cx="281304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D6D4CC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bhi4621/VIT-Bhopal-Abhi-Pandey-S-P-Crisil-hackathon" TargetMode="External"/><Relationship Id="rId3" Type="http://schemas.openxmlformats.org/officeDocument/2006/relationships/hyperlink" Target="https://vit-bhopal-abhi-pandey-s-p-crisil-hack.vercel.app/" TargetMode="External"/><Relationship Id="rId4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4975"/>
            <a:ext cx="3220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70">
                <a:solidFill>
                  <a:srgbClr val="EDE9E1"/>
                </a:solidFill>
                <a:latin typeface="SimSun-ExtB"/>
                <a:cs typeface="SimSun-ExtB"/>
              </a:rPr>
              <a:t>S&amp;</a:t>
            </a:r>
            <a:r>
              <a:rPr dirty="0" sz="1200" spc="-47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EDE9E1"/>
                </a:solidFill>
                <a:latin typeface="SimSun-ExtB"/>
                <a:cs typeface="SimSun-ExtB"/>
              </a:rPr>
              <a:t>P</a:t>
            </a:r>
            <a:r>
              <a:rPr dirty="0" sz="1200" spc="295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EDE9E1"/>
                </a:solidFill>
                <a:latin typeface="SimSun-ExtB"/>
                <a:cs typeface="SimSun-ExtB"/>
              </a:rPr>
              <a:t>GLOBAL</a:t>
            </a:r>
            <a:r>
              <a:rPr dirty="0" sz="1200" spc="30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-600">
                <a:solidFill>
                  <a:srgbClr val="EDE9E1"/>
                </a:solidFill>
                <a:latin typeface="SimSun-ExtB"/>
                <a:cs typeface="SimSun-ExtB"/>
              </a:rPr>
              <a:t>·</a:t>
            </a:r>
            <a:r>
              <a:rPr dirty="0" sz="1200" spc="295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EDE9E1"/>
                </a:solidFill>
                <a:latin typeface="SimSun-ExtB"/>
                <a:cs typeface="SimSun-ExtB"/>
              </a:rPr>
              <a:t>CRISIL</a:t>
            </a:r>
            <a:r>
              <a:rPr dirty="0" sz="1200" spc="295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EDE9E1"/>
                </a:solidFill>
                <a:latin typeface="SimSun-ExtB"/>
                <a:cs typeface="SimSun-ExtB"/>
              </a:rPr>
              <a:t>HACKATHON</a:t>
            </a:r>
            <a:r>
              <a:rPr dirty="0" sz="1200" spc="30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85">
                <a:solidFill>
                  <a:srgbClr val="EDE9E1"/>
                </a:solidFill>
                <a:latin typeface="SimSun-ExtB"/>
                <a:cs typeface="SimSun-ExtB"/>
              </a:rPr>
              <a:t>2026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4432331"/>
            <a:ext cx="3623945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180">
                <a:solidFill>
                  <a:srgbClr val="EDE9E1"/>
                </a:solidFill>
                <a:latin typeface="Trebuchet MS"/>
                <a:cs typeface="Trebuchet MS"/>
              </a:rPr>
              <a:t>RiskPulse</a:t>
            </a:r>
            <a:endParaRPr sz="6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5565806"/>
            <a:ext cx="5197475" cy="821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solidFill>
                  <a:srgbClr val="EDE9E1"/>
                </a:solidFill>
                <a:latin typeface="Arial"/>
                <a:cs typeface="Arial"/>
              </a:rPr>
              <a:t>From</a:t>
            </a:r>
            <a:r>
              <a:rPr dirty="0" sz="1900" spc="-8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financial</a:t>
            </a:r>
            <a:r>
              <a:rPr dirty="0" sz="1900" spc="-8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60">
                <a:solidFill>
                  <a:srgbClr val="EDE9E1"/>
                </a:solidFill>
                <a:latin typeface="Arial"/>
                <a:cs typeface="Arial"/>
              </a:rPr>
              <a:t>news</a:t>
            </a:r>
            <a:r>
              <a:rPr dirty="0" sz="1900" spc="-8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100">
                <a:solidFill>
                  <a:srgbClr val="EDE9E1"/>
                </a:solidFill>
                <a:latin typeface="Arial"/>
                <a:cs typeface="Arial"/>
              </a:rPr>
              <a:t>to</a:t>
            </a:r>
            <a:r>
              <a:rPr dirty="0" sz="1900" spc="-8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50">
                <a:solidFill>
                  <a:srgbClr val="EDE9E1"/>
                </a:solidFill>
                <a:latin typeface="Arial"/>
                <a:cs typeface="Arial"/>
              </a:rPr>
              <a:t>portfolio</a:t>
            </a:r>
            <a:r>
              <a:rPr dirty="0" sz="1900" spc="-8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30">
                <a:solidFill>
                  <a:srgbClr val="EDE9E1"/>
                </a:solidFill>
                <a:latin typeface="Arial"/>
                <a:cs typeface="Arial"/>
              </a:rPr>
              <a:t>stress</a:t>
            </a:r>
            <a:r>
              <a:rPr dirty="0" sz="1900" spc="-8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decisions.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dirty="0" sz="1200" spc="105">
                <a:solidFill>
                  <a:srgbClr val="EDE9E1"/>
                </a:solidFill>
                <a:latin typeface="SimSun-ExtB"/>
                <a:cs typeface="SimSun-ExtB"/>
              </a:rPr>
              <a:t>ABHI</a:t>
            </a:r>
            <a:r>
              <a:rPr dirty="0" sz="1200" spc="29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EDE9E1"/>
                </a:solidFill>
                <a:latin typeface="SimSun-ExtB"/>
                <a:cs typeface="SimSun-ExtB"/>
              </a:rPr>
              <a:t>PANDEY</a:t>
            </a:r>
            <a:r>
              <a:rPr dirty="0" sz="1200" spc="29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-600">
                <a:solidFill>
                  <a:srgbClr val="EDE9E1"/>
                </a:solidFill>
                <a:latin typeface="SimSun-ExtB"/>
                <a:cs typeface="SimSun-ExtB"/>
              </a:rPr>
              <a:t>·</a:t>
            </a:r>
            <a:r>
              <a:rPr dirty="0" sz="1200" spc="29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EDE9E1"/>
                </a:solidFill>
                <a:latin typeface="SimSun-ExtB"/>
                <a:cs typeface="SimSun-ExtB"/>
              </a:rPr>
              <a:t>VIT</a:t>
            </a:r>
            <a:r>
              <a:rPr dirty="0" sz="1200" spc="29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EDE9E1"/>
                </a:solidFill>
                <a:latin typeface="SimSun-ExtB"/>
                <a:cs typeface="SimSun-ExtB"/>
              </a:rPr>
              <a:t>BHOPAL</a:t>
            </a:r>
            <a:r>
              <a:rPr dirty="0" sz="1200" spc="295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EDE9E1"/>
                </a:solidFill>
                <a:latin typeface="SimSun-ExtB"/>
                <a:cs typeface="SimSun-ExtB"/>
              </a:rPr>
              <a:t>UNIVERSITY</a:t>
            </a: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70">
                <a:solidFill>
                  <a:srgbClr val="EDE9E1"/>
                </a:solidFill>
                <a:latin typeface="SimSun-ExtB"/>
                <a:cs typeface="SimSun-ExtB"/>
              </a:rPr>
              <a:t>B.</a:t>
            </a:r>
            <a:r>
              <a:rPr dirty="0" sz="1200" spc="-47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105">
                <a:solidFill>
                  <a:srgbClr val="EDE9E1"/>
                </a:solidFill>
                <a:latin typeface="SimSun-ExtB"/>
                <a:cs typeface="SimSun-ExtB"/>
              </a:rPr>
              <a:t>TECH</a:t>
            </a:r>
            <a:r>
              <a:rPr dirty="0" sz="1200" spc="285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EDE9E1"/>
                </a:solidFill>
                <a:latin typeface="SimSun-ExtB"/>
                <a:cs typeface="SimSun-ExtB"/>
              </a:rPr>
              <a:t>CSE</a:t>
            </a:r>
            <a:r>
              <a:rPr dirty="0" sz="1200" spc="29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EDE9E1"/>
                </a:solidFill>
                <a:latin typeface="SimSun-ExtB"/>
                <a:cs typeface="SimSun-ExtB"/>
              </a:rPr>
              <a:t>(</a:t>
            </a:r>
            <a:r>
              <a:rPr dirty="0" sz="1200" spc="-459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70">
                <a:solidFill>
                  <a:srgbClr val="EDE9E1"/>
                </a:solidFill>
                <a:latin typeface="SimSun-ExtB"/>
                <a:cs typeface="SimSun-ExtB"/>
              </a:rPr>
              <a:t>AI</a:t>
            </a:r>
            <a:r>
              <a:rPr dirty="0" sz="1200" spc="285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EDE9E1"/>
                </a:solidFill>
                <a:latin typeface="SimSun-ExtB"/>
                <a:cs typeface="SimSun-ExtB"/>
              </a:rPr>
              <a:t>&amp;</a:t>
            </a:r>
            <a:r>
              <a:rPr dirty="0" sz="1200" spc="290">
                <a:solidFill>
                  <a:srgbClr val="EDE9E1"/>
                </a:solidFill>
                <a:latin typeface="SimSun-ExtB"/>
                <a:cs typeface="SimSun-ExtB"/>
              </a:rPr>
              <a:t> </a:t>
            </a:r>
            <a:r>
              <a:rPr dirty="0" sz="1200" spc="65">
                <a:solidFill>
                  <a:srgbClr val="EDE9E1"/>
                </a:solidFill>
                <a:latin typeface="SimSun-ExtB"/>
                <a:cs typeface="SimSun-ExtB"/>
              </a:rPr>
              <a:t>ML)</a:t>
            </a:r>
            <a:endParaRPr sz="120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8100" cy="6858000"/>
          </a:xfrm>
          <a:custGeom>
            <a:avLst/>
            <a:gdLst/>
            <a:ahLst/>
            <a:cxnLst/>
            <a:rect l="l" t="t" r="r" b="b"/>
            <a:pathLst>
              <a:path w="38100" h="6858000">
                <a:moveTo>
                  <a:pt x="381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8100" y="0"/>
                </a:lnTo>
                <a:lnTo>
                  <a:pt x="38100" y="6858000"/>
                </a:lnTo>
                <a:close/>
              </a:path>
            </a:pathLst>
          </a:custGeom>
          <a:solidFill>
            <a:srgbClr val="E38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3100" y="587375"/>
            <a:ext cx="668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0">
                <a:solidFill>
                  <a:srgbClr val="B99456"/>
                </a:solidFill>
                <a:latin typeface="SimSun-ExtB"/>
                <a:cs typeface="SimSun-ExtB"/>
              </a:rPr>
              <a:t>THE</a:t>
            </a:r>
            <a:r>
              <a:rPr dirty="0" sz="1200" spc="28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65">
                <a:solidFill>
                  <a:srgbClr val="B99456"/>
                </a:solidFill>
                <a:latin typeface="SimSun-ExtB"/>
                <a:cs typeface="SimSun-ExtB"/>
              </a:rPr>
              <a:t>GAP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100" y="714438"/>
            <a:ext cx="3237865" cy="3084830"/>
          </a:xfrm>
          <a:prstGeom prst="rect"/>
        </p:spPr>
        <p:txBody>
          <a:bodyPr wrap="square" lIns="0" tIns="142875" rIns="0" bIns="0" rtlCol="0" vert="horz">
            <a:spAutoFit/>
          </a:bodyPr>
          <a:lstStyle/>
          <a:p>
            <a:pPr marL="12700" marR="5080">
              <a:lnSpc>
                <a:spcPct val="81800"/>
              </a:lnSpc>
              <a:spcBef>
                <a:spcPts val="1125"/>
              </a:spcBef>
            </a:pPr>
            <a:r>
              <a:rPr dirty="0" spc="65"/>
              <a:t>Financial </a:t>
            </a:r>
            <a:r>
              <a:rPr dirty="0" spc="120"/>
              <a:t>risk</a:t>
            </a:r>
            <a:r>
              <a:rPr dirty="0" spc="-475"/>
              <a:t> </a:t>
            </a:r>
            <a:r>
              <a:rPr dirty="0" spc="295"/>
              <a:t>moves </a:t>
            </a:r>
            <a:r>
              <a:rPr dirty="0" spc="229"/>
              <a:t>faster</a:t>
            </a:r>
            <a:r>
              <a:rPr dirty="0" spc="-480"/>
              <a:t> </a:t>
            </a:r>
            <a:r>
              <a:rPr dirty="0" spc="229"/>
              <a:t>than </a:t>
            </a:r>
            <a:r>
              <a:rPr dirty="0" spc="170"/>
              <a:t>reporting </a:t>
            </a:r>
            <a:r>
              <a:rPr dirty="0" spc="254"/>
              <a:t>cycles</a:t>
            </a:r>
          </a:p>
        </p:txBody>
      </p:sp>
      <p:sp>
        <p:nvSpPr>
          <p:cNvPr id="6" name="object 6"/>
          <p:cNvSpPr/>
          <p:nvPr/>
        </p:nvSpPr>
        <p:spPr>
          <a:xfrm>
            <a:off x="5757862" y="747712"/>
            <a:ext cx="352425" cy="361950"/>
          </a:xfrm>
          <a:custGeom>
            <a:avLst/>
            <a:gdLst/>
            <a:ahLst/>
            <a:cxnLst/>
            <a:rect l="l" t="t" r="r" b="b"/>
            <a:pathLst>
              <a:path w="352425" h="361950">
                <a:moveTo>
                  <a:pt x="0" y="185737"/>
                </a:moveTo>
                <a:lnTo>
                  <a:pt x="0" y="176212"/>
                </a:lnTo>
                <a:lnTo>
                  <a:pt x="211" y="167555"/>
                </a:lnTo>
                <a:lnTo>
                  <a:pt x="7584" y="125059"/>
                </a:lnTo>
                <a:lnTo>
                  <a:pt x="25063" y="85629"/>
                </a:lnTo>
                <a:lnTo>
                  <a:pt x="51611" y="51611"/>
                </a:lnTo>
                <a:lnTo>
                  <a:pt x="85628" y="25063"/>
                </a:lnTo>
                <a:lnTo>
                  <a:pt x="125059" y="7585"/>
                </a:lnTo>
                <a:lnTo>
                  <a:pt x="167555" y="211"/>
                </a:lnTo>
                <a:lnTo>
                  <a:pt x="176212" y="0"/>
                </a:lnTo>
                <a:lnTo>
                  <a:pt x="184869" y="211"/>
                </a:lnTo>
                <a:lnTo>
                  <a:pt x="227363" y="7585"/>
                </a:lnTo>
                <a:lnTo>
                  <a:pt x="266794" y="25063"/>
                </a:lnTo>
                <a:lnTo>
                  <a:pt x="300812" y="51611"/>
                </a:lnTo>
                <a:lnTo>
                  <a:pt x="327361" y="85629"/>
                </a:lnTo>
                <a:lnTo>
                  <a:pt x="344838" y="125059"/>
                </a:lnTo>
                <a:lnTo>
                  <a:pt x="352213" y="167555"/>
                </a:lnTo>
                <a:lnTo>
                  <a:pt x="352425" y="176212"/>
                </a:lnTo>
                <a:lnTo>
                  <a:pt x="352425" y="185737"/>
                </a:lnTo>
                <a:lnTo>
                  <a:pt x="347142" y="228563"/>
                </a:lnTo>
                <a:lnTo>
                  <a:pt x="331619" y="268804"/>
                </a:lnTo>
                <a:lnTo>
                  <a:pt x="306784" y="304067"/>
                </a:lnTo>
                <a:lnTo>
                  <a:pt x="274110" y="332252"/>
                </a:lnTo>
                <a:lnTo>
                  <a:pt x="235566" y="351653"/>
                </a:lnTo>
                <a:lnTo>
                  <a:pt x="193484" y="361103"/>
                </a:lnTo>
                <a:lnTo>
                  <a:pt x="176212" y="361950"/>
                </a:lnTo>
                <a:lnTo>
                  <a:pt x="167555" y="361738"/>
                </a:lnTo>
                <a:lnTo>
                  <a:pt x="125059" y="354364"/>
                </a:lnTo>
                <a:lnTo>
                  <a:pt x="85628" y="336886"/>
                </a:lnTo>
                <a:lnTo>
                  <a:pt x="51611" y="310338"/>
                </a:lnTo>
                <a:lnTo>
                  <a:pt x="25063" y="276320"/>
                </a:lnTo>
                <a:lnTo>
                  <a:pt x="7584" y="236889"/>
                </a:lnTo>
                <a:lnTo>
                  <a:pt x="211" y="194394"/>
                </a:lnTo>
                <a:lnTo>
                  <a:pt x="0" y="185737"/>
                </a:lnTo>
                <a:close/>
              </a:path>
            </a:pathLst>
          </a:custGeom>
          <a:ln w="28575">
            <a:solidFill>
              <a:srgbClr val="3F40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330057" y="583529"/>
            <a:ext cx="5104130" cy="1168400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 spc="-40">
                <a:solidFill>
                  <a:srgbClr val="EDE9E1"/>
                </a:solidFill>
                <a:latin typeface="Arial"/>
                <a:cs typeface="Arial"/>
              </a:rPr>
              <a:t>Signals</a:t>
            </a:r>
            <a:r>
              <a:rPr dirty="0" sz="1900" spc="-7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surface</a:t>
            </a:r>
            <a:r>
              <a:rPr dirty="0" sz="1900" spc="-7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DE9E1"/>
                </a:solidFill>
                <a:latin typeface="Arial"/>
                <a:cs typeface="Arial"/>
              </a:rPr>
              <a:t>early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93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Critical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clues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appear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in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news,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regulatory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updates,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and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market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commentary.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57862" y="2166937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0" y="205531"/>
                </a:moveTo>
                <a:lnTo>
                  <a:pt x="0" y="204043"/>
                </a:lnTo>
                <a:lnTo>
                  <a:pt x="0" y="197360"/>
                </a:lnTo>
                <a:lnTo>
                  <a:pt x="327" y="190694"/>
                </a:lnTo>
                <a:lnTo>
                  <a:pt x="6846" y="151207"/>
                </a:lnTo>
                <a:lnTo>
                  <a:pt x="20942" y="113751"/>
                </a:lnTo>
                <a:lnTo>
                  <a:pt x="42076" y="79765"/>
                </a:lnTo>
                <a:lnTo>
                  <a:pt x="46315" y="74599"/>
                </a:lnTo>
                <a:lnTo>
                  <a:pt x="50554" y="69433"/>
                </a:lnTo>
                <a:lnTo>
                  <a:pt x="74599" y="46315"/>
                </a:lnTo>
                <a:lnTo>
                  <a:pt x="79765" y="42076"/>
                </a:lnTo>
                <a:lnTo>
                  <a:pt x="107858" y="24093"/>
                </a:lnTo>
                <a:lnTo>
                  <a:pt x="113751" y="20942"/>
                </a:lnTo>
                <a:lnTo>
                  <a:pt x="119784" y="18089"/>
                </a:lnTo>
                <a:lnTo>
                  <a:pt x="125958" y="15531"/>
                </a:lnTo>
                <a:lnTo>
                  <a:pt x="132132" y="12974"/>
                </a:lnTo>
                <a:lnTo>
                  <a:pt x="170790" y="2616"/>
                </a:lnTo>
                <a:lnTo>
                  <a:pt x="204043" y="0"/>
                </a:lnTo>
                <a:lnTo>
                  <a:pt x="205531" y="0"/>
                </a:lnTo>
                <a:lnTo>
                  <a:pt x="212214" y="0"/>
                </a:lnTo>
                <a:lnTo>
                  <a:pt x="218880" y="327"/>
                </a:lnTo>
                <a:lnTo>
                  <a:pt x="225531" y="982"/>
                </a:lnTo>
                <a:lnTo>
                  <a:pt x="232181" y="1637"/>
                </a:lnTo>
                <a:lnTo>
                  <a:pt x="271156" y="10725"/>
                </a:lnTo>
                <a:lnTo>
                  <a:pt x="283614" y="15531"/>
                </a:lnTo>
                <a:lnTo>
                  <a:pt x="289788" y="18089"/>
                </a:lnTo>
                <a:lnTo>
                  <a:pt x="318891" y="34387"/>
                </a:lnTo>
                <a:lnTo>
                  <a:pt x="324447" y="38100"/>
                </a:lnTo>
                <a:lnTo>
                  <a:pt x="329808" y="42076"/>
                </a:lnTo>
                <a:lnTo>
                  <a:pt x="334974" y="46315"/>
                </a:lnTo>
                <a:lnTo>
                  <a:pt x="340140" y="50555"/>
                </a:lnTo>
                <a:lnTo>
                  <a:pt x="367498" y="79765"/>
                </a:lnTo>
                <a:lnTo>
                  <a:pt x="375186" y="90682"/>
                </a:lnTo>
                <a:lnTo>
                  <a:pt x="378900" y="96239"/>
                </a:lnTo>
                <a:lnTo>
                  <a:pt x="396599" y="132133"/>
                </a:lnTo>
                <a:lnTo>
                  <a:pt x="406957" y="170790"/>
                </a:lnTo>
                <a:lnTo>
                  <a:pt x="408592" y="184043"/>
                </a:lnTo>
                <a:lnTo>
                  <a:pt x="409247" y="190694"/>
                </a:lnTo>
                <a:lnTo>
                  <a:pt x="409575" y="197360"/>
                </a:lnTo>
                <a:lnTo>
                  <a:pt x="409575" y="204043"/>
                </a:lnTo>
                <a:lnTo>
                  <a:pt x="409575" y="205531"/>
                </a:lnTo>
                <a:lnTo>
                  <a:pt x="409575" y="212214"/>
                </a:lnTo>
                <a:lnTo>
                  <a:pt x="409247" y="218880"/>
                </a:lnTo>
                <a:lnTo>
                  <a:pt x="408592" y="225531"/>
                </a:lnTo>
                <a:lnTo>
                  <a:pt x="407936" y="232182"/>
                </a:lnTo>
                <a:lnTo>
                  <a:pt x="406957" y="238784"/>
                </a:lnTo>
                <a:lnTo>
                  <a:pt x="405653" y="245338"/>
                </a:lnTo>
                <a:lnTo>
                  <a:pt x="404349" y="251892"/>
                </a:lnTo>
                <a:lnTo>
                  <a:pt x="394042" y="283615"/>
                </a:lnTo>
                <a:lnTo>
                  <a:pt x="391485" y="289789"/>
                </a:lnTo>
                <a:lnTo>
                  <a:pt x="388631" y="295823"/>
                </a:lnTo>
                <a:lnTo>
                  <a:pt x="385481" y="301717"/>
                </a:lnTo>
                <a:lnTo>
                  <a:pt x="382331" y="307610"/>
                </a:lnTo>
                <a:lnTo>
                  <a:pt x="378900" y="313335"/>
                </a:lnTo>
                <a:lnTo>
                  <a:pt x="375186" y="318891"/>
                </a:lnTo>
                <a:lnTo>
                  <a:pt x="371474" y="324448"/>
                </a:lnTo>
                <a:lnTo>
                  <a:pt x="349811" y="349812"/>
                </a:lnTo>
                <a:lnTo>
                  <a:pt x="345085" y="354537"/>
                </a:lnTo>
                <a:lnTo>
                  <a:pt x="340140" y="359020"/>
                </a:lnTo>
                <a:lnTo>
                  <a:pt x="334974" y="363259"/>
                </a:lnTo>
                <a:lnTo>
                  <a:pt x="329808" y="367498"/>
                </a:lnTo>
                <a:lnTo>
                  <a:pt x="324447" y="371474"/>
                </a:lnTo>
                <a:lnTo>
                  <a:pt x="318891" y="375187"/>
                </a:lnTo>
                <a:lnTo>
                  <a:pt x="313335" y="378900"/>
                </a:lnTo>
                <a:lnTo>
                  <a:pt x="283614" y="394043"/>
                </a:lnTo>
                <a:lnTo>
                  <a:pt x="277441" y="396600"/>
                </a:lnTo>
                <a:lnTo>
                  <a:pt x="245338" y="405654"/>
                </a:lnTo>
                <a:lnTo>
                  <a:pt x="238784" y="406957"/>
                </a:lnTo>
                <a:lnTo>
                  <a:pt x="232181" y="407937"/>
                </a:lnTo>
                <a:lnTo>
                  <a:pt x="225531" y="408592"/>
                </a:lnTo>
                <a:lnTo>
                  <a:pt x="218880" y="409247"/>
                </a:lnTo>
                <a:lnTo>
                  <a:pt x="212214" y="409575"/>
                </a:lnTo>
                <a:lnTo>
                  <a:pt x="205531" y="409575"/>
                </a:lnTo>
                <a:lnTo>
                  <a:pt x="204043" y="409575"/>
                </a:lnTo>
                <a:lnTo>
                  <a:pt x="197360" y="409575"/>
                </a:lnTo>
                <a:lnTo>
                  <a:pt x="190694" y="409247"/>
                </a:lnTo>
                <a:lnTo>
                  <a:pt x="151207" y="402729"/>
                </a:lnTo>
                <a:lnTo>
                  <a:pt x="144812" y="400789"/>
                </a:lnTo>
                <a:lnTo>
                  <a:pt x="138417" y="398849"/>
                </a:lnTo>
                <a:lnTo>
                  <a:pt x="132132" y="396600"/>
                </a:lnTo>
                <a:lnTo>
                  <a:pt x="125958" y="394043"/>
                </a:lnTo>
                <a:lnTo>
                  <a:pt x="119784" y="391486"/>
                </a:lnTo>
                <a:lnTo>
                  <a:pt x="113750" y="388632"/>
                </a:lnTo>
                <a:lnTo>
                  <a:pt x="107857" y="385482"/>
                </a:lnTo>
                <a:lnTo>
                  <a:pt x="101964" y="382331"/>
                </a:lnTo>
                <a:lnTo>
                  <a:pt x="69434" y="359020"/>
                </a:lnTo>
                <a:lnTo>
                  <a:pt x="46315" y="334975"/>
                </a:lnTo>
                <a:lnTo>
                  <a:pt x="42076" y="329809"/>
                </a:lnTo>
                <a:lnTo>
                  <a:pt x="24093" y="301717"/>
                </a:lnTo>
                <a:lnTo>
                  <a:pt x="20942" y="295823"/>
                </a:lnTo>
                <a:lnTo>
                  <a:pt x="18088" y="289789"/>
                </a:lnTo>
                <a:lnTo>
                  <a:pt x="15531" y="283615"/>
                </a:lnTo>
                <a:lnTo>
                  <a:pt x="12973" y="277441"/>
                </a:lnTo>
                <a:lnTo>
                  <a:pt x="2616" y="238784"/>
                </a:lnTo>
                <a:lnTo>
                  <a:pt x="0" y="212214"/>
                </a:lnTo>
                <a:lnTo>
                  <a:pt x="0" y="205531"/>
                </a:lnTo>
                <a:close/>
              </a:path>
            </a:pathLst>
          </a:custGeom>
          <a:ln w="28575">
            <a:solidFill>
              <a:srgbClr val="3F40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380063" y="2021804"/>
            <a:ext cx="4520565" cy="1168400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 spc="-85">
                <a:solidFill>
                  <a:srgbClr val="EDE9E1"/>
                </a:solidFill>
                <a:latin typeface="Arial"/>
                <a:cs typeface="Arial"/>
              </a:rPr>
              <a:t>Teams</a:t>
            </a:r>
            <a:r>
              <a:rPr dirty="0" sz="1900" spc="-7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work</a:t>
            </a:r>
            <a:r>
              <a:rPr dirty="0" sz="1900" spc="-7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DE9E1"/>
                </a:solidFill>
                <a:latin typeface="Arial"/>
                <a:cs typeface="Arial"/>
              </a:rPr>
              <a:t>apart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935"/>
              </a:spcBef>
            </a:pP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Analysts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read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50">
                <a:solidFill>
                  <a:srgbClr val="D6D4CC"/>
                </a:solidFill>
                <a:latin typeface="Arial"/>
                <a:cs typeface="Arial"/>
              </a:rPr>
              <a:t>text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while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45">
                <a:solidFill>
                  <a:srgbClr val="D6D4CC"/>
                </a:solidFill>
                <a:latin typeface="Arial"/>
                <a:cs typeface="Arial"/>
              </a:rPr>
              <a:t>portfolio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teams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work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in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separate</a:t>
            </a:r>
            <a:r>
              <a:rPr dirty="0" sz="1700" spc="-8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risk</a:t>
            </a:r>
            <a:r>
              <a:rPr dirty="0" sz="1700" spc="-8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models.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57862" y="3605212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409575" y="204787"/>
                </a:moveTo>
                <a:lnTo>
                  <a:pt x="409575" y="211495"/>
                </a:lnTo>
                <a:lnTo>
                  <a:pt x="409246" y="218185"/>
                </a:lnTo>
                <a:lnTo>
                  <a:pt x="408588" y="224860"/>
                </a:lnTo>
                <a:lnTo>
                  <a:pt x="407930" y="231535"/>
                </a:lnTo>
                <a:lnTo>
                  <a:pt x="398809" y="270652"/>
                </a:lnTo>
                <a:lnTo>
                  <a:pt x="382231" y="307238"/>
                </a:lnTo>
                <a:lnTo>
                  <a:pt x="375061" y="318561"/>
                </a:lnTo>
                <a:lnTo>
                  <a:pt x="371334" y="324138"/>
                </a:lnTo>
                <a:lnTo>
                  <a:pt x="367344" y="329518"/>
                </a:lnTo>
                <a:lnTo>
                  <a:pt x="363089" y="334703"/>
                </a:lnTo>
                <a:lnTo>
                  <a:pt x="358834" y="339888"/>
                </a:lnTo>
                <a:lnTo>
                  <a:pt x="354335" y="344851"/>
                </a:lnTo>
                <a:lnTo>
                  <a:pt x="349593" y="349594"/>
                </a:lnTo>
                <a:lnTo>
                  <a:pt x="344851" y="354336"/>
                </a:lnTo>
                <a:lnTo>
                  <a:pt x="339887" y="358835"/>
                </a:lnTo>
                <a:lnTo>
                  <a:pt x="334702" y="363090"/>
                </a:lnTo>
                <a:lnTo>
                  <a:pt x="329517" y="367345"/>
                </a:lnTo>
                <a:lnTo>
                  <a:pt x="324137" y="371335"/>
                </a:lnTo>
                <a:lnTo>
                  <a:pt x="318560" y="375062"/>
                </a:lnTo>
                <a:lnTo>
                  <a:pt x="312983" y="378788"/>
                </a:lnTo>
                <a:lnTo>
                  <a:pt x="283155" y="393986"/>
                </a:lnTo>
                <a:lnTo>
                  <a:pt x="276959" y="396553"/>
                </a:lnTo>
                <a:lnTo>
                  <a:pt x="270651" y="398809"/>
                </a:lnTo>
                <a:lnTo>
                  <a:pt x="264233" y="400756"/>
                </a:lnTo>
                <a:lnTo>
                  <a:pt x="257815" y="402704"/>
                </a:lnTo>
                <a:lnTo>
                  <a:pt x="251317" y="404331"/>
                </a:lnTo>
                <a:lnTo>
                  <a:pt x="244738" y="405639"/>
                </a:lnTo>
                <a:lnTo>
                  <a:pt x="238161" y="406948"/>
                </a:lnTo>
                <a:lnTo>
                  <a:pt x="231534" y="407931"/>
                </a:lnTo>
                <a:lnTo>
                  <a:pt x="224860" y="408589"/>
                </a:lnTo>
                <a:lnTo>
                  <a:pt x="218185" y="409246"/>
                </a:lnTo>
                <a:lnTo>
                  <a:pt x="211494" y="409575"/>
                </a:lnTo>
                <a:lnTo>
                  <a:pt x="204787" y="409575"/>
                </a:lnTo>
                <a:lnTo>
                  <a:pt x="198080" y="409575"/>
                </a:lnTo>
                <a:lnTo>
                  <a:pt x="191389" y="409246"/>
                </a:lnTo>
                <a:lnTo>
                  <a:pt x="184715" y="408589"/>
                </a:lnTo>
                <a:lnTo>
                  <a:pt x="178040" y="407931"/>
                </a:lnTo>
                <a:lnTo>
                  <a:pt x="171413" y="406948"/>
                </a:lnTo>
                <a:lnTo>
                  <a:pt x="164834" y="405640"/>
                </a:lnTo>
                <a:lnTo>
                  <a:pt x="158256" y="404331"/>
                </a:lnTo>
                <a:lnTo>
                  <a:pt x="151758" y="402704"/>
                </a:lnTo>
                <a:lnTo>
                  <a:pt x="145340" y="400757"/>
                </a:lnTo>
                <a:lnTo>
                  <a:pt x="138922" y="398809"/>
                </a:lnTo>
                <a:lnTo>
                  <a:pt x="132614" y="396553"/>
                </a:lnTo>
                <a:lnTo>
                  <a:pt x="126417" y="393986"/>
                </a:lnTo>
                <a:lnTo>
                  <a:pt x="120221" y="391419"/>
                </a:lnTo>
                <a:lnTo>
                  <a:pt x="114165" y="388555"/>
                </a:lnTo>
                <a:lnTo>
                  <a:pt x="108250" y="385393"/>
                </a:lnTo>
                <a:lnTo>
                  <a:pt x="102335" y="382232"/>
                </a:lnTo>
                <a:lnTo>
                  <a:pt x="74871" y="363090"/>
                </a:lnTo>
                <a:lnTo>
                  <a:pt x="69686" y="358835"/>
                </a:lnTo>
                <a:lnTo>
                  <a:pt x="42229" y="329518"/>
                </a:lnTo>
                <a:lnTo>
                  <a:pt x="24180" y="301323"/>
                </a:lnTo>
                <a:lnTo>
                  <a:pt x="21018" y="295408"/>
                </a:lnTo>
                <a:lnTo>
                  <a:pt x="18154" y="289352"/>
                </a:lnTo>
                <a:lnTo>
                  <a:pt x="15588" y="283156"/>
                </a:lnTo>
                <a:lnTo>
                  <a:pt x="13021" y="276959"/>
                </a:lnTo>
                <a:lnTo>
                  <a:pt x="2626" y="238161"/>
                </a:lnTo>
                <a:lnTo>
                  <a:pt x="0" y="211495"/>
                </a:lnTo>
                <a:lnTo>
                  <a:pt x="0" y="204787"/>
                </a:lnTo>
                <a:lnTo>
                  <a:pt x="0" y="198080"/>
                </a:lnTo>
                <a:lnTo>
                  <a:pt x="5243" y="158256"/>
                </a:lnTo>
                <a:lnTo>
                  <a:pt x="8818" y="145340"/>
                </a:lnTo>
                <a:lnTo>
                  <a:pt x="10765" y="138922"/>
                </a:lnTo>
                <a:lnTo>
                  <a:pt x="13021" y="132614"/>
                </a:lnTo>
                <a:lnTo>
                  <a:pt x="15588" y="126418"/>
                </a:lnTo>
                <a:lnTo>
                  <a:pt x="18154" y="120221"/>
                </a:lnTo>
                <a:lnTo>
                  <a:pt x="21018" y="114166"/>
                </a:lnTo>
                <a:lnTo>
                  <a:pt x="24180" y="108251"/>
                </a:lnTo>
                <a:lnTo>
                  <a:pt x="27342" y="102336"/>
                </a:lnTo>
                <a:lnTo>
                  <a:pt x="50739" y="69687"/>
                </a:lnTo>
                <a:lnTo>
                  <a:pt x="74871" y="46484"/>
                </a:lnTo>
                <a:lnTo>
                  <a:pt x="80055" y="42229"/>
                </a:lnTo>
                <a:lnTo>
                  <a:pt x="108250" y="24180"/>
                </a:lnTo>
                <a:lnTo>
                  <a:pt x="114165" y="21019"/>
                </a:lnTo>
                <a:lnTo>
                  <a:pt x="145340" y="8818"/>
                </a:lnTo>
                <a:lnTo>
                  <a:pt x="151758" y="6871"/>
                </a:lnTo>
                <a:lnTo>
                  <a:pt x="191389" y="329"/>
                </a:lnTo>
                <a:lnTo>
                  <a:pt x="204787" y="0"/>
                </a:lnTo>
                <a:lnTo>
                  <a:pt x="211494" y="0"/>
                </a:lnTo>
                <a:lnTo>
                  <a:pt x="244738" y="3935"/>
                </a:lnTo>
                <a:lnTo>
                  <a:pt x="251317" y="5243"/>
                </a:lnTo>
                <a:lnTo>
                  <a:pt x="257815" y="6871"/>
                </a:lnTo>
                <a:lnTo>
                  <a:pt x="264233" y="8818"/>
                </a:lnTo>
                <a:lnTo>
                  <a:pt x="270651" y="10765"/>
                </a:lnTo>
                <a:lnTo>
                  <a:pt x="276959" y="13022"/>
                </a:lnTo>
                <a:lnTo>
                  <a:pt x="283155" y="15588"/>
                </a:lnTo>
                <a:lnTo>
                  <a:pt x="289352" y="18155"/>
                </a:lnTo>
                <a:lnTo>
                  <a:pt x="318560" y="34512"/>
                </a:lnTo>
                <a:lnTo>
                  <a:pt x="324137" y="38238"/>
                </a:lnTo>
                <a:lnTo>
                  <a:pt x="349593" y="59980"/>
                </a:lnTo>
                <a:lnTo>
                  <a:pt x="354335" y="64723"/>
                </a:lnTo>
                <a:lnTo>
                  <a:pt x="358834" y="69687"/>
                </a:lnTo>
                <a:lnTo>
                  <a:pt x="363089" y="74871"/>
                </a:lnTo>
                <a:lnTo>
                  <a:pt x="367344" y="80056"/>
                </a:lnTo>
                <a:lnTo>
                  <a:pt x="388555" y="114166"/>
                </a:lnTo>
                <a:lnTo>
                  <a:pt x="402703" y="151758"/>
                </a:lnTo>
                <a:lnTo>
                  <a:pt x="408588" y="184714"/>
                </a:lnTo>
                <a:lnTo>
                  <a:pt x="409246" y="191389"/>
                </a:lnTo>
                <a:lnTo>
                  <a:pt x="409575" y="198080"/>
                </a:lnTo>
                <a:lnTo>
                  <a:pt x="409575" y="204787"/>
                </a:lnTo>
                <a:close/>
              </a:path>
            </a:pathLst>
          </a:custGeom>
          <a:ln w="28575">
            <a:solidFill>
              <a:srgbClr val="3F40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84230" y="3480251"/>
            <a:ext cx="4199890" cy="115760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Handoffs</a:t>
            </a:r>
            <a:r>
              <a:rPr dirty="0" sz="1900" spc="1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45">
                <a:solidFill>
                  <a:srgbClr val="EDE9E1"/>
                </a:solidFill>
                <a:latin typeface="Arial"/>
                <a:cs typeface="Arial"/>
              </a:rPr>
              <a:t>slow</a:t>
            </a:r>
            <a:r>
              <a:rPr dirty="0" sz="1900" spc="1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action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3999"/>
              </a:lnSpc>
              <a:spcBef>
                <a:spcPts val="785"/>
              </a:spcBef>
            </a:pP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Manual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transfer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delays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the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choice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85">
                <a:solidFill>
                  <a:srgbClr val="D6D4CC"/>
                </a:solidFill>
                <a:latin typeface="Arial"/>
                <a:cs typeface="Arial"/>
              </a:rPr>
              <a:t>to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hedge, investigate,</a:t>
            </a:r>
            <a:r>
              <a:rPr dirty="0" sz="1700" spc="-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or stress-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test.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57862" y="5043487"/>
            <a:ext cx="419100" cy="428625"/>
          </a:xfrm>
          <a:custGeom>
            <a:avLst/>
            <a:gdLst/>
            <a:ahLst/>
            <a:cxnLst/>
            <a:rect l="l" t="t" r="r" b="b"/>
            <a:pathLst>
              <a:path w="419100" h="428625">
                <a:moveTo>
                  <a:pt x="0" y="219075"/>
                </a:moveTo>
                <a:lnTo>
                  <a:pt x="0" y="209550"/>
                </a:lnTo>
                <a:lnTo>
                  <a:pt x="0" y="202687"/>
                </a:lnTo>
                <a:lnTo>
                  <a:pt x="336" y="195840"/>
                </a:lnTo>
                <a:lnTo>
                  <a:pt x="1008" y="189010"/>
                </a:lnTo>
                <a:lnTo>
                  <a:pt x="1681" y="182180"/>
                </a:lnTo>
                <a:lnTo>
                  <a:pt x="2687" y="175400"/>
                </a:lnTo>
                <a:lnTo>
                  <a:pt x="4026" y="168668"/>
                </a:lnTo>
                <a:lnTo>
                  <a:pt x="5365" y="161937"/>
                </a:lnTo>
                <a:lnTo>
                  <a:pt x="18577" y="123017"/>
                </a:lnTo>
                <a:lnTo>
                  <a:pt x="39127" y="87423"/>
                </a:lnTo>
                <a:lnTo>
                  <a:pt x="47564" y="76613"/>
                </a:lnTo>
                <a:lnTo>
                  <a:pt x="51918" y="71307"/>
                </a:lnTo>
                <a:lnTo>
                  <a:pt x="81917" y="43212"/>
                </a:lnTo>
                <a:lnTo>
                  <a:pt x="116821" y="21508"/>
                </a:lnTo>
                <a:lnTo>
                  <a:pt x="155287" y="7031"/>
                </a:lnTo>
                <a:lnTo>
                  <a:pt x="189010" y="1009"/>
                </a:lnTo>
                <a:lnTo>
                  <a:pt x="195840" y="336"/>
                </a:lnTo>
                <a:lnTo>
                  <a:pt x="202687" y="0"/>
                </a:lnTo>
                <a:lnTo>
                  <a:pt x="209550" y="0"/>
                </a:lnTo>
                <a:lnTo>
                  <a:pt x="216412" y="0"/>
                </a:lnTo>
                <a:lnTo>
                  <a:pt x="257162" y="5365"/>
                </a:lnTo>
                <a:lnTo>
                  <a:pt x="296081" y="18577"/>
                </a:lnTo>
                <a:lnTo>
                  <a:pt x="325969" y="35314"/>
                </a:lnTo>
                <a:lnTo>
                  <a:pt x="331676" y="39127"/>
                </a:lnTo>
                <a:lnTo>
                  <a:pt x="337181" y="43212"/>
                </a:lnTo>
                <a:lnTo>
                  <a:pt x="342486" y="47565"/>
                </a:lnTo>
                <a:lnTo>
                  <a:pt x="347792" y="51919"/>
                </a:lnTo>
                <a:lnTo>
                  <a:pt x="371534" y="76613"/>
                </a:lnTo>
                <a:lnTo>
                  <a:pt x="375887" y="81917"/>
                </a:lnTo>
                <a:lnTo>
                  <a:pt x="397591" y="116820"/>
                </a:lnTo>
                <a:lnTo>
                  <a:pt x="412069" y="155287"/>
                </a:lnTo>
                <a:lnTo>
                  <a:pt x="418763" y="195840"/>
                </a:lnTo>
                <a:lnTo>
                  <a:pt x="419100" y="202687"/>
                </a:lnTo>
                <a:lnTo>
                  <a:pt x="419100" y="209550"/>
                </a:lnTo>
                <a:lnTo>
                  <a:pt x="419100" y="219075"/>
                </a:lnTo>
                <a:lnTo>
                  <a:pt x="419100" y="225937"/>
                </a:lnTo>
                <a:lnTo>
                  <a:pt x="418763" y="232784"/>
                </a:lnTo>
                <a:lnTo>
                  <a:pt x="412069" y="273336"/>
                </a:lnTo>
                <a:lnTo>
                  <a:pt x="403148" y="299265"/>
                </a:lnTo>
                <a:lnTo>
                  <a:pt x="400522" y="305606"/>
                </a:lnTo>
                <a:lnTo>
                  <a:pt x="397591" y="311802"/>
                </a:lnTo>
                <a:lnTo>
                  <a:pt x="394355" y="317855"/>
                </a:lnTo>
                <a:lnTo>
                  <a:pt x="391121" y="323908"/>
                </a:lnTo>
                <a:lnTo>
                  <a:pt x="387597" y="329787"/>
                </a:lnTo>
                <a:lnTo>
                  <a:pt x="383784" y="335494"/>
                </a:lnTo>
                <a:lnTo>
                  <a:pt x="379971" y="341200"/>
                </a:lnTo>
                <a:lnTo>
                  <a:pt x="357723" y="367249"/>
                </a:lnTo>
                <a:lnTo>
                  <a:pt x="352870" y="372102"/>
                </a:lnTo>
                <a:lnTo>
                  <a:pt x="325969" y="393309"/>
                </a:lnTo>
                <a:lnTo>
                  <a:pt x="320262" y="397122"/>
                </a:lnTo>
                <a:lnTo>
                  <a:pt x="314383" y="400646"/>
                </a:lnTo>
                <a:lnTo>
                  <a:pt x="308330" y="403880"/>
                </a:lnTo>
                <a:lnTo>
                  <a:pt x="302277" y="407116"/>
                </a:lnTo>
                <a:lnTo>
                  <a:pt x="296081" y="410047"/>
                </a:lnTo>
                <a:lnTo>
                  <a:pt x="289740" y="412673"/>
                </a:lnTo>
                <a:lnTo>
                  <a:pt x="283400" y="415299"/>
                </a:lnTo>
                <a:lnTo>
                  <a:pt x="243699" y="425937"/>
                </a:lnTo>
                <a:lnTo>
                  <a:pt x="216412" y="428625"/>
                </a:lnTo>
                <a:lnTo>
                  <a:pt x="209550" y="428625"/>
                </a:lnTo>
                <a:lnTo>
                  <a:pt x="202687" y="428625"/>
                </a:lnTo>
                <a:lnTo>
                  <a:pt x="195840" y="428288"/>
                </a:lnTo>
                <a:lnTo>
                  <a:pt x="189010" y="427616"/>
                </a:lnTo>
                <a:lnTo>
                  <a:pt x="182179" y="426943"/>
                </a:lnTo>
                <a:lnTo>
                  <a:pt x="148720" y="419601"/>
                </a:lnTo>
                <a:lnTo>
                  <a:pt x="142152" y="417609"/>
                </a:lnTo>
                <a:lnTo>
                  <a:pt x="110768" y="403880"/>
                </a:lnTo>
                <a:lnTo>
                  <a:pt x="104715" y="400646"/>
                </a:lnTo>
                <a:lnTo>
                  <a:pt x="71307" y="376705"/>
                </a:lnTo>
                <a:lnTo>
                  <a:pt x="47564" y="352011"/>
                </a:lnTo>
                <a:lnTo>
                  <a:pt x="43211" y="346706"/>
                </a:lnTo>
                <a:lnTo>
                  <a:pt x="21508" y="311802"/>
                </a:lnTo>
                <a:lnTo>
                  <a:pt x="7031" y="273336"/>
                </a:lnTo>
                <a:lnTo>
                  <a:pt x="4026" y="259955"/>
                </a:lnTo>
                <a:lnTo>
                  <a:pt x="2687" y="253224"/>
                </a:lnTo>
                <a:lnTo>
                  <a:pt x="1681" y="246444"/>
                </a:lnTo>
                <a:lnTo>
                  <a:pt x="1008" y="239614"/>
                </a:lnTo>
                <a:lnTo>
                  <a:pt x="336" y="232784"/>
                </a:lnTo>
                <a:lnTo>
                  <a:pt x="0" y="225937"/>
                </a:lnTo>
                <a:lnTo>
                  <a:pt x="0" y="219075"/>
                </a:lnTo>
                <a:close/>
              </a:path>
            </a:pathLst>
          </a:custGeom>
          <a:ln w="28575">
            <a:solidFill>
              <a:srgbClr val="3F40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3100" y="5572112"/>
            <a:ext cx="39624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The</a:t>
            </a:r>
            <a:r>
              <a:rPr dirty="0" sz="20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D6D4CC"/>
                </a:solidFill>
                <a:latin typeface="Arial"/>
                <a:cs typeface="Arial"/>
              </a:rPr>
              <a:t>signal</a:t>
            </a:r>
            <a:r>
              <a:rPr dirty="0" sz="20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D6D4CC"/>
                </a:solidFill>
                <a:latin typeface="Arial"/>
                <a:cs typeface="Arial"/>
              </a:rPr>
              <a:t>appears</a:t>
            </a:r>
            <a:r>
              <a:rPr dirty="0" sz="20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in</a:t>
            </a:r>
            <a:r>
              <a:rPr dirty="0" sz="20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65">
                <a:solidFill>
                  <a:srgbClr val="D6D4CC"/>
                </a:solidFill>
                <a:latin typeface="Arial"/>
                <a:cs typeface="Arial"/>
              </a:rPr>
              <a:t>text</a:t>
            </a:r>
            <a:r>
              <a:rPr dirty="0" sz="20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first.</a:t>
            </a:r>
            <a:r>
              <a:rPr dirty="0" sz="20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D6D4CC"/>
                </a:solidFill>
                <a:latin typeface="Arial"/>
                <a:cs typeface="Arial"/>
              </a:rPr>
              <a:t>The </a:t>
            </a:r>
            <a:r>
              <a:rPr dirty="0" sz="2000" spc="-10">
                <a:solidFill>
                  <a:srgbClr val="D6D4CC"/>
                </a:solidFill>
                <a:latin typeface="Arial"/>
                <a:cs typeface="Arial"/>
              </a:rPr>
              <a:t>decision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D6D4CC"/>
                </a:solidFill>
                <a:latin typeface="Arial"/>
                <a:cs typeface="Arial"/>
              </a:rPr>
              <a:t>arrives</a:t>
            </a:r>
            <a:r>
              <a:rPr dirty="0" sz="2000" spc="-8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D6D4CC"/>
                </a:solidFill>
                <a:latin typeface="Arial"/>
                <a:cs typeface="Arial"/>
              </a:rPr>
              <a:t>later.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7773" y="4928051"/>
            <a:ext cx="4344670" cy="115760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900" spc="-55">
                <a:solidFill>
                  <a:srgbClr val="EDE9E1"/>
                </a:solidFill>
                <a:latin typeface="Arial"/>
                <a:cs typeface="Arial"/>
              </a:rPr>
              <a:t>RiskPulse</a:t>
            </a:r>
            <a:r>
              <a:rPr dirty="0" sz="1900" spc="-7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reconnects</a:t>
            </a:r>
            <a:r>
              <a:rPr dirty="0" sz="1900" spc="-6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DE9E1"/>
                </a:solidFill>
                <a:latin typeface="Arial"/>
                <a:cs typeface="Arial"/>
              </a:rPr>
              <a:t>them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3999"/>
              </a:lnSpc>
              <a:spcBef>
                <a:spcPts val="78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The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qualitative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signal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becomes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a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quantitative </a:t>
            </a:r>
            <a:r>
              <a:rPr dirty="0" sz="1700" spc="45">
                <a:solidFill>
                  <a:srgbClr val="D6D4CC"/>
                </a:solidFill>
                <a:latin typeface="Arial"/>
                <a:cs typeface="Arial"/>
              </a:rPr>
              <a:t>portfolio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view.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100" y="282575"/>
            <a:ext cx="3663950" cy="203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dirty="0" sz="1200" spc="90">
                <a:solidFill>
                  <a:srgbClr val="B99456"/>
                </a:solidFill>
                <a:latin typeface="SimSun-ExtB"/>
                <a:cs typeface="SimSun-ExtB"/>
              </a:rPr>
              <a:t>THE</a:t>
            </a:r>
            <a:r>
              <a:rPr dirty="0" sz="1200" spc="29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B99456"/>
                </a:solidFill>
                <a:latin typeface="SimSun-ExtB"/>
                <a:cs typeface="SimSun-ExtB"/>
              </a:rPr>
              <a:t>SIGNAL</a:t>
            </a:r>
            <a:r>
              <a:rPr dirty="0" sz="1200" spc="29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B99456"/>
                </a:solidFill>
                <a:latin typeface="SimSun-ExtB"/>
                <a:cs typeface="SimSun-ExtB"/>
              </a:rPr>
              <a:t>CHAIN</a:t>
            </a:r>
            <a:endParaRPr sz="1200">
              <a:latin typeface="SimSun-ExtB"/>
              <a:cs typeface="SimSun-ExtB"/>
            </a:endParaRPr>
          </a:p>
          <a:p>
            <a:pPr marL="12700" marR="5080">
              <a:lnSpc>
                <a:spcPct val="87800"/>
              </a:lnSpc>
              <a:spcBef>
                <a:spcPts val="475"/>
              </a:spcBef>
            </a:pPr>
            <a:r>
              <a:rPr dirty="0" sz="3300" spc="120">
                <a:solidFill>
                  <a:srgbClr val="EDE9E1"/>
                </a:solidFill>
                <a:latin typeface="Trebuchet MS"/>
                <a:cs typeface="Trebuchet MS"/>
              </a:rPr>
              <a:t>RiskPulse</a:t>
            </a:r>
            <a:r>
              <a:rPr dirty="0" sz="3300" spc="-28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180">
                <a:solidFill>
                  <a:srgbClr val="EDE9E1"/>
                </a:solidFill>
                <a:latin typeface="Trebuchet MS"/>
                <a:cs typeface="Trebuchet MS"/>
              </a:rPr>
              <a:t>turns </a:t>
            </a:r>
            <a:r>
              <a:rPr dirty="0" sz="3300" spc="185">
                <a:solidFill>
                  <a:srgbClr val="EDE9E1"/>
                </a:solidFill>
                <a:latin typeface="Trebuchet MS"/>
                <a:cs typeface="Trebuchet MS"/>
              </a:rPr>
              <a:t>unstructured</a:t>
            </a:r>
            <a:r>
              <a:rPr dirty="0" sz="3300" spc="-290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100">
                <a:solidFill>
                  <a:srgbClr val="EDE9E1"/>
                </a:solidFill>
                <a:latin typeface="Trebuchet MS"/>
                <a:cs typeface="Trebuchet MS"/>
              </a:rPr>
              <a:t>text </a:t>
            </a:r>
            <a:r>
              <a:rPr dirty="0" sz="3300" spc="95">
                <a:solidFill>
                  <a:srgbClr val="EDE9E1"/>
                </a:solidFill>
                <a:latin typeface="Trebuchet MS"/>
                <a:cs typeface="Trebuchet MS"/>
              </a:rPr>
              <a:t>into</a:t>
            </a:r>
            <a:r>
              <a:rPr dirty="0" sz="3300" spc="-280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235">
                <a:solidFill>
                  <a:srgbClr val="EDE9E1"/>
                </a:solidFill>
                <a:latin typeface="Trebuchet MS"/>
                <a:cs typeface="Trebuchet MS"/>
              </a:rPr>
              <a:t>an</a:t>
            </a:r>
            <a:r>
              <a:rPr dirty="0" sz="3300" spc="-27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100">
                <a:solidFill>
                  <a:srgbClr val="EDE9E1"/>
                </a:solidFill>
                <a:latin typeface="Trebuchet MS"/>
                <a:cs typeface="Trebuchet MS"/>
              </a:rPr>
              <a:t>auditable risk</a:t>
            </a:r>
            <a:r>
              <a:rPr dirty="0" sz="3300" spc="-28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130">
                <a:solidFill>
                  <a:srgbClr val="EDE9E1"/>
                </a:solidFill>
                <a:latin typeface="Trebuchet MS"/>
                <a:cs typeface="Trebuchet MS"/>
              </a:rPr>
              <a:t>signal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443190" y="295338"/>
            <a:ext cx="4925060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7505" algn="l"/>
              </a:tabLst>
            </a:pP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1.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	Collect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55">
                <a:solidFill>
                  <a:srgbClr val="D6D4CC"/>
                </a:solidFill>
                <a:latin typeface="Arial"/>
                <a:cs typeface="Arial"/>
              </a:rPr>
              <a:t>multi-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source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news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sentiment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feeds.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3190" y="563867"/>
            <a:ext cx="5851525" cy="133985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610"/>
              </a:spcBef>
              <a:buAutoNum type="arabicPeriod" startAt="2"/>
              <a:tabLst>
                <a:tab pos="357505" algn="l"/>
              </a:tabLst>
            </a:pP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Clean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50">
                <a:solidFill>
                  <a:srgbClr val="D6D4CC"/>
                </a:solidFill>
                <a:latin typeface="Arial"/>
                <a:cs typeface="Arial"/>
              </a:rPr>
              <a:t>text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normalize</a:t>
            </a:r>
            <a:r>
              <a:rPr dirty="0" sz="17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entities.</a:t>
            </a:r>
            <a:endParaRPr sz="1700">
              <a:latin typeface="Arial"/>
              <a:cs typeface="Arial"/>
            </a:endParaRPr>
          </a:p>
          <a:p>
            <a:pPr marL="357505" indent="-344805">
              <a:lnSpc>
                <a:spcPct val="100000"/>
              </a:lnSpc>
              <a:spcBef>
                <a:spcPts val="509"/>
              </a:spcBef>
              <a:buAutoNum type="arabicPeriod" startAt="2"/>
              <a:tabLst>
                <a:tab pos="357505" algn="l"/>
              </a:tabLst>
            </a:pP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Score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sentiment,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classify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the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event,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calculate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impact.</a:t>
            </a:r>
            <a:endParaRPr sz="1700">
              <a:latin typeface="Arial"/>
              <a:cs typeface="Arial"/>
            </a:endParaRPr>
          </a:p>
          <a:p>
            <a:pPr marL="357505" indent="-344805">
              <a:lnSpc>
                <a:spcPct val="100000"/>
              </a:lnSpc>
              <a:spcBef>
                <a:spcPts val="585"/>
              </a:spcBef>
              <a:buAutoNum type="arabicPeriod" startAt="2"/>
              <a:tabLst>
                <a:tab pos="357505" algn="l"/>
              </a:tabLst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Trigger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stress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testing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when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impact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reaches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65">
                <a:solidFill>
                  <a:srgbClr val="D6D4CC"/>
                </a:solidFill>
                <a:latin typeface="Arial"/>
                <a:cs typeface="Arial"/>
              </a:rPr>
              <a:t>7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or</a:t>
            </a:r>
            <a:r>
              <a:rPr dirty="0" sz="17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higher.</a:t>
            </a:r>
            <a:endParaRPr sz="1700">
              <a:latin typeface="Arial"/>
              <a:cs typeface="Arial"/>
            </a:endParaRPr>
          </a:p>
          <a:p>
            <a:pPr marL="357505" indent="-344805">
              <a:lnSpc>
                <a:spcPct val="100000"/>
              </a:lnSpc>
              <a:spcBef>
                <a:spcPts val="585"/>
              </a:spcBef>
              <a:buAutoNum type="arabicPeriod" startAt="2"/>
              <a:tabLst>
                <a:tab pos="357505" algn="l"/>
              </a:tabLst>
            </a:pP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Surface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the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result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in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one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risk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dashboard.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100" y="6113779"/>
            <a:ext cx="3597910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1200" spc="125">
                <a:solidFill>
                  <a:srgbClr val="A8ABB3"/>
                </a:solidFill>
                <a:latin typeface="SimSun-ExtB"/>
                <a:cs typeface="SimSun-ExtB"/>
              </a:rPr>
              <a:t>DETERMINISTIC</a:t>
            </a:r>
            <a:r>
              <a:rPr dirty="0" sz="1200" spc="300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A8ABB3"/>
                </a:solidFill>
                <a:latin typeface="SimSun-ExtB"/>
                <a:cs typeface="SimSun-ExtB"/>
              </a:rPr>
              <a:t>RULES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05">
                <a:solidFill>
                  <a:srgbClr val="A8ABB3"/>
                </a:solidFill>
                <a:latin typeface="SimSun-ExtB"/>
                <a:cs typeface="SimSun-ExtB"/>
              </a:rPr>
              <a:t>KEEP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A8ABB3"/>
                </a:solidFill>
                <a:latin typeface="SimSun-ExtB"/>
                <a:cs typeface="SimSun-ExtB"/>
              </a:rPr>
              <a:t>THE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A8ABB3"/>
                </a:solidFill>
                <a:latin typeface="SimSun-ExtB"/>
                <a:cs typeface="SimSun-ExtB"/>
              </a:rPr>
              <a:t>REASONING </a:t>
            </a:r>
            <a:r>
              <a:rPr dirty="0" sz="1200" spc="125">
                <a:solidFill>
                  <a:srgbClr val="A8ABB3"/>
                </a:solidFill>
                <a:latin typeface="SimSun-ExtB"/>
                <a:cs typeface="SimSun-ExtB"/>
              </a:rPr>
              <a:t>TRANSPARENT</a:t>
            </a:r>
            <a:r>
              <a:rPr dirty="0" sz="1200" spc="300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A8ABB3"/>
                </a:solidFill>
                <a:latin typeface="SimSun-ExtB"/>
                <a:cs typeface="SimSun-ExtB"/>
              </a:rPr>
              <a:t>AND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A8ABB3"/>
                </a:solidFill>
                <a:latin typeface="SimSun-ExtB"/>
                <a:cs typeface="SimSun-ExtB"/>
              </a:rPr>
              <a:t>REPEATABLE.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4975"/>
            <a:ext cx="18027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05">
                <a:solidFill>
                  <a:srgbClr val="B99456"/>
                </a:solidFill>
                <a:latin typeface="SimSun-ExtB"/>
                <a:cs typeface="SimSun-ExtB"/>
              </a:rPr>
              <a:t>FAST</a:t>
            </a:r>
            <a:r>
              <a:rPr dirty="0" sz="1200" spc="280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B99456"/>
                </a:solidFill>
                <a:latin typeface="SimSun-ExtB"/>
                <a:cs typeface="SimSun-ExtB"/>
              </a:rPr>
              <a:t>REVIEW</a:t>
            </a:r>
            <a:r>
              <a:rPr dirty="0" sz="1200" spc="290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B99456"/>
                </a:solidFill>
                <a:latin typeface="SimSun-ExtB"/>
                <a:cs typeface="SimSun-ExtB"/>
              </a:rPr>
              <a:t>SURFACE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15950"/>
            <a:ext cx="761365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110"/>
              <a:t>Six</a:t>
            </a:r>
            <a:r>
              <a:rPr dirty="0" sz="3300" spc="-260"/>
              <a:t> </a:t>
            </a:r>
            <a:r>
              <a:rPr dirty="0" sz="3300" spc="185"/>
              <a:t>features</a:t>
            </a:r>
            <a:r>
              <a:rPr dirty="0" sz="3300" spc="-260"/>
              <a:t> </a:t>
            </a:r>
            <a:r>
              <a:rPr dirty="0" sz="3300"/>
              <a:t>built</a:t>
            </a:r>
            <a:r>
              <a:rPr dirty="0" sz="3300" spc="-260"/>
              <a:t> </a:t>
            </a:r>
            <a:r>
              <a:rPr dirty="0" sz="3300" spc="135"/>
              <a:t>for</a:t>
            </a:r>
            <a:r>
              <a:rPr dirty="0" sz="3300" spc="-254"/>
              <a:t> </a:t>
            </a:r>
            <a:r>
              <a:rPr dirty="0" sz="3300" spc="275"/>
              <a:t>a</a:t>
            </a:r>
            <a:r>
              <a:rPr dirty="0" sz="3300" spc="-260"/>
              <a:t> </a:t>
            </a:r>
            <a:r>
              <a:rPr dirty="0" sz="3300" spc="200"/>
              <a:t>fast</a:t>
            </a:r>
            <a:r>
              <a:rPr dirty="0" sz="3300" spc="-260"/>
              <a:t> </a:t>
            </a:r>
            <a:r>
              <a:rPr dirty="0" sz="3300" spc="100"/>
              <a:t>risk</a:t>
            </a:r>
            <a:r>
              <a:rPr dirty="0" sz="3300" spc="-260"/>
              <a:t> </a:t>
            </a:r>
            <a:r>
              <a:rPr dirty="0" sz="3300" spc="65"/>
              <a:t>review</a:t>
            </a:r>
            <a:endParaRPr sz="3300"/>
          </a:p>
        </p:txBody>
      </p:sp>
      <p:grpSp>
        <p:nvGrpSpPr>
          <p:cNvPr id="4" name="object 4"/>
          <p:cNvGrpSpPr/>
          <p:nvPr/>
        </p:nvGrpSpPr>
        <p:grpSpPr>
          <a:xfrm>
            <a:off x="457200" y="1323975"/>
            <a:ext cx="704850" cy="704850"/>
            <a:chOff x="457200" y="1323975"/>
            <a:chExt cx="704850" cy="704850"/>
          </a:xfrm>
        </p:grpSpPr>
        <p:sp>
          <p:nvSpPr>
            <p:cNvPr id="5" name="object 5"/>
            <p:cNvSpPr/>
            <p:nvPr/>
          </p:nvSpPr>
          <p:spPr>
            <a:xfrm>
              <a:off x="471487" y="1338262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38137" y="676275"/>
                  </a:moveTo>
                  <a:lnTo>
                    <a:pt x="296743" y="673731"/>
                  </a:lnTo>
                  <a:lnTo>
                    <a:pt x="255976" y="666141"/>
                  </a:lnTo>
                  <a:lnTo>
                    <a:pt x="216445" y="653618"/>
                  </a:lnTo>
                  <a:lnTo>
                    <a:pt x="178740" y="636348"/>
                  </a:lnTo>
                  <a:lnTo>
                    <a:pt x="143432" y="614592"/>
                  </a:lnTo>
                  <a:lnTo>
                    <a:pt x="111058" y="588681"/>
                  </a:lnTo>
                  <a:lnTo>
                    <a:pt x="82098" y="559001"/>
                  </a:lnTo>
                  <a:lnTo>
                    <a:pt x="56986" y="525996"/>
                  </a:lnTo>
                  <a:lnTo>
                    <a:pt x="36103" y="490165"/>
                  </a:lnTo>
                  <a:lnTo>
                    <a:pt x="19765" y="452052"/>
                  </a:lnTo>
                  <a:lnTo>
                    <a:pt x="8216" y="412226"/>
                  </a:lnTo>
                  <a:lnTo>
                    <a:pt x="1628" y="37128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9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5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7" y="17067"/>
                  </a:lnTo>
                  <a:lnTo>
                    <a:pt x="272170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7" y="25739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5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70"/>
                  </a:lnTo>
                  <a:lnTo>
                    <a:pt x="675359" y="313265"/>
                  </a:lnTo>
                  <a:lnTo>
                    <a:pt x="676275" y="338137"/>
                  </a:lnTo>
                  <a:lnTo>
                    <a:pt x="676173" y="346438"/>
                  </a:lnTo>
                  <a:lnTo>
                    <a:pt x="672615" y="387752"/>
                  </a:lnTo>
                  <a:lnTo>
                    <a:pt x="664027" y="428320"/>
                  </a:lnTo>
                  <a:lnTo>
                    <a:pt x="650535" y="467536"/>
                  </a:lnTo>
                  <a:lnTo>
                    <a:pt x="632345" y="504806"/>
                  </a:lnTo>
                  <a:lnTo>
                    <a:pt x="609732" y="539565"/>
                  </a:lnTo>
                  <a:lnTo>
                    <a:pt x="583034" y="571295"/>
                  </a:lnTo>
                  <a:lnTo>
                    <a:pt x="552649" y="599521"/>
                  </a:lnTo>
                  <a:lnTo>
                    <a:pt x="519038" y="623815"/>
                  </a:lnTo>
                  <a:lnTo>
                    <a:pt x="482709" y="643810"/>
                  </a:lnTo>
                  <a:lnTo>
                    <a:pt x="444207" y="659207"/>
                  </a:lnTo>
                  <a:lnTo>
                    <a:pt x="404104" y="669777"/>
                  </a:lnTo>
                  <a:lnTo>
                    <a:pt x="363010" y="675359"/>
                  </a:lnTo>
                  <a:lnTo>
                    <a:pt x="338137" y="676275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1487" y="1338262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75" y="338137"/>
                  </a:moveTo>
                  <a:lnTo>
                    <a:pt x="673731" y="379531"/>
                  </a:lnTo>
                  <a:lnTo>
                    <a:pt x="666141" y="420298"/>
                  </a:lnTo>
                  <a:lnTo>
                    <a:pt x="653618" y="459829"/>
                  </a:lnTo>
                  <a:lnTo>
                    <a:pt x="636348" y="497534"/>
                  </a:lnTo>
                  <a:lnTo>
                    <a:pt x="614592" y="532841"/>
                  </a:lnTo>
                  <a:lnTo>
                    <a:pt x="588680" y="565217"/>
                  </a:lnTo>
                  <a:lnTo>
                    <a:pt x="559001" y="594176"/>
                  </a:lnTo>
                  <a:lnTo>
                    <a:pt x="525996" y="619288"/>
                  </a:lnTo>
                  <a:lnTo>
                    <a:pt x="490165" y="640171"/>
                  </a:lnTo>
                  <a:lnTo>
                    <a:pt x="452052" y="656509"/>
                  </a:lnTo>
                  <a:lnTo>
                    <a:pt x="412226" y="668058"/>
                  </a:lnTo>
                  <a:lnTo>
                    <a:pt x="371280" y="674646"/>
                  </a:lnTo>
                  <a:lnTo>
                    <a:pt x="338137" y="676275"/>
                  </a:lnTo>
                  <a:lnTo>
                    <a:pt x="329836" y="676173"/>
                  </a:lnTo>
                  <a:lnTo>
                    <a:pt x="288522" y="672615"/>
                  </a:lnTo>
                  <a:lnTo>
                    <a:pt x="247954" y="664027"/>
                  </a:lnTo>
                  <a:lnTo>
                    <a:pt x="208737" y="650535"/>
                  </a:lnTo>
                  <a:lnTo>
                    <a:pt x="171467" y="632345"/>
                  </a:lnTo>
                  <a:lnTo>
                    <a:pt x="136709" y="609732"/>
                  </a:lnTo>
                  <a:lnTo>
                    <a:pt x="104979" y="583034"/>
                  </a:lnTo>
                  <a:lnTo>
                    <a:pt x="76753" y="552649"/>
                  </a:lnTo>
                  <a:lnTo>
                    <a:pt x="52459" y="519038"/>
                  </a:lnTo>
                  <a:lnTo>
                    <a:pt x="32464" y="482709"/>
                  </a:lnTo>
                  <a:lnTo>
                    <a:pt x="17067" y="444207"/>
                  </a:lnTo>
                  <a:lnTo>
                    <a:pt x="6497" y="404104"/>
                  </a:lnTo>
                  <a:lnTo>
                    <a:pt x="915" y="36301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9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5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7" y="17067"/>
                  </a:lnTo>
                  <a:lnTo>
                    <a:pt x="272170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7" y="25739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5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70"/>
                  </a:lnTo>
                  <a:lnTo>
                    <a:pt x="675359" y="313265"/>
                  </a:lnTo>
                  <a:lnTo>
                    <a:pt x="676275" y="338137"/>
                  </a:lnTo>
                  <a:close/>
                </a:path>
              </a:pathLst>
            </a:custGeom>
            <a:ln w="28575">
              <a:solidFill>
                <a:srgbClr val="B994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7700" y="15144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323850" y="323850"/>
                  </a:moveTo>
                  <a:lnTo>
                    <a:pt x="0" y="323850"/>
                  </a:lnTo>
                  <a:lnTo>
                    <a:pt x="0" y="0"/>
                  </a:lnTo>
                  <a:lnTo>
                    <a:pt x="323850" y="0"/>
                  </a:lnTo>
                  <a:lnTo>
                    <a:pt x="323850" y="323850"/>
                  </a:lnTo>
                  <a:close/>
                </a:path>
              </a:pathLst>
            </a:custGeom>
            <a:solidFill>
              <a:srgbClr val="B994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371975" y="1323975"/>
            <a:ext cx="704850" cy="704850"/>
            <a:chOff x="4371975" y="1323975"/>
            <a:chExt cx="704850" cy="704850"/>
          </a:xfrm>
        </p:grpSpPr>
        <p:sp>
          <p:nvSpPr>
            <p:cNvPr id="10" name="object 10"/>
            <p:cNvSpPr/>
            <p:nvPr/>
          </p:nvSpPr>
          <p:spPr>
            <a:xfrm>
              <a:off x="4386262" y="1338262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38137" y="676275"/>
                  </a:moveTo>
                  <a:lnTo>
                    <a:pt x="296743" y="673731"/>
                  </a:lnTo>
                  <a:lnTo>
                    <a:pt x="255976" y="666141"/>
                  </a:lnTo>
                  <a:lnTo>
                    <a:pt x="216445" y="653618"/>
                  </a:lnTo>
                  <a:lnTo>
                    <a:pt x="178740" y="636348"/>
                  </a:lnTo>
                  <a:lnTo>
                    <a:pt x="143432" y="614592"/>
                  </a:lnTo>
                  <a:lnTo>
                    <a:pt x="111057" y="588681"/>
                  </a:lnTo>
                  <a:lnTo>
                    <a:pt x="82098" y="559001"/>
                  </a:lnTo>
                  <a:lnTo>
                    <a:pt x="56985" y="525996"/>
                  </a:lnTo>
                  <a:lnTo>
                    <a:pt x="36103" y="490165"/>
                  </a:lnTo>
                  <a:lnTo>
                    <a:pt x="19765" y="452052"/>
                  </a:lnTo>
                  <a:lnTo>
                    <a:pt x="8216" y="412226"/>
                  </a:lnTo>
                  <a:lnTo>
                    <a:pt x="1628" y="37128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8" y="247954"/>
                  </a:lnTo>
                  <a:lnTo>
                    <a:pt x="25738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4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6" y="25739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5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70"/>
                  </a:lnTo>
                  <a:lnTo>
                    <a:pt x="675359" y="313265"/>
                  </a:lnTo>
                  <a:lnTo>
                    <a:pt x="676275" y="338137"/>
                  </a:lnTo>
                  <a:lnTo>
                    <a:pt x="676173" y="346438"/>
                  </a:lnTo>
                  <a:lnTo>
                    <a:pt x="672615" y="387752"/>
                  </a:lnTo>
                  <a:lnTo>
                    <a:pt x="664026" y="428320"/>
                  </a:lnTo>
                  <a:lnTo>
                    <a:pt x="650535" y="467536"/>
                  </a:lnTo>
                  <a:lnTo>
                    <a:pt x="632345" y="504806"/>
                  </a:lnTo>
                  <a:lnTo>
                    <a:pt x="609732" y="539565"/>
                  </a:lnTo>
                  <a:lnTo>
                    <a:pt x="583034" y="571295"/>
                  </a:lnTo>
                  <a:lnTo>
                    <a:pt x="552649" y="599521"/>
                  </a:lnTo>
                  <a:lnTo>
                    <a:pt x="519037" y="623815"/>
                  </a:lnTo>
                  <a:lnTo>
                    <a:pt x="482709" y="643810"/>
                  </a:lnTo>
                  <a:lnTo>
                    <a:pt x="444207" y="659207"/>
                  </a:lnTo>
                  <a:lnTo>
                    <a:pt x="404104" y="669777"/>
                  </a:lnTo>
                  <a:lnTo>
                    <a:pt x="363010" y="675359"/>
                  </a:lnTo>
                  <a:lnTo>
                    <a:pt x="338137" y="676275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386262" y="1338262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75" y="338137"/>
                  </a:moveTo>
                  <a:lnTo>
                    <a:pt x="673732" y="379531"/>
                  </a:lnTo>
                  <a:lnTo>
                    <a:pt x="666141" y="420298"/>
                  </a:lnTo>
                  <a:lnTo>
                    <a:pt x="653618" y="459829"/>
                  </a:lnTo>
                  <a:lnTo>
                    <a:pt x="636348" y="497534"/>
                  </a:lnTo>
                  <a:lnTo>
                    <a:pt x="614592" y="532841"/>
                  </a:lnTo>
                  <a:lnTo>
                    <a:pt x="588681" y="565217"/>
                  </a:lnTo>
                  <a:lnTo>
                    <a:pt x="559001" y="594176"/>
                  </a:lnTo>
                  <a:lnTo>
                    <a:pt x="525996" y="619288"/>
                  </a:lnTo>
                  <a:lnTo>
                    <a:pt x="490165" y="640171"/>
                  </a:lnTo>
                  <a:lnTo>
                    <a:pt x="452052" y="656509"/>
                  </a:lnTo>
                  <a:lnTo>
                    <a:pt x="412225" y="668058"/>
                  </a:lnTo>
                  <a:lnTo>
                    <a:pt x="371280" y="674646"/>
                  </a:lnTo>
                  <a:lnTo>
                    <a:pt x="338137" y="676275"/>
                  </a:lnTo>
                  <a:lnTo>
                    <a:pt x="329836" y="676173"/>
                  </a:lnTo>
                  <a:lnTo>
                    <a:pt x="288522" y="672615"/>
                  </a:lnTo>
                  <a:lnTo>
                    <a:pt x="247953" y="664027"/>
                  </a:lnTo>
                  <a:lnTo>
                    <a:pt x="208737" y="650535"/>
                  </a:lnTo>
                  <a:lnTo>
                    <a:pt x="171467" y="632345"/>
                  </a:lnTo>
                  <a:lnTo>
                    <a:pt x="136708" y="609732"/>
                  </a:lnTo>
                  <a:lnTo>
                    <a:pt x="104979" y="583034"/>
                  </a:lnTo>
                  <a:lnTo>
                    <a:pt x="76753" y="552649"/>
                  </a:lnTo>
                  <a:lnTo>
                    <a:pt x="52459" y="519038"/>
                  </a:lnTo>
                  <a:lnTo>
                    <a:pt x="32464" y="482709"/>
                  </a:lnTo>
                  <a:lnTo>
                    <a:pt x="17067" y="444207"/>
                  </a:lnTo>
                  <a:lnTo>
                    <a:pt x="6496" y="404104"/>
                  </a:lnTo>
                  <a:lnTo>
                    <a:pt x="916" y="36301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8" y="247954"/>
                  </a:lnTo>
                  <a:lnTo>
                    <a:pt x="25738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4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6" y="25739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5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70"/>
                  </a:lnTo>
                  <a:lnTo>
                    <a:pt x="675359" y="313265"/>
                  </a:lnTo>
                  <a:lnTo>
                    <a:pt x="676275" y="338137"/>
                  </a:lnTo>
                  <a:close/>
                </a:path>
              </a:pathLst>
            </a:custGeom>
            <a:ln w="28575">
              <a:solidFill>
                <a:srgbClr val="B994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62475" y="15144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323850" y="323850"/>
                  </a:moveTo>
                  <a:lnTo>
                    <a:pt x="0" y="323850"/>
                  </a:lnTo>
                  <a:lnTo>
                    <a:pt x="0" y="0"/>
                  </a:lnTo>
                  <a:lnTo>
                    <a:pt x="323850" y="0"/>
                  </a:lnTo>
                  <a:lnTo>
                    <a:pt x="323850" y="323850"/>
                  </a:lnTo>
                  <a:close/>
                </a:path>
              </a:pathLst>
            </a:custGeom>
            <a:solidFill>
              <a:srgbClr val="B994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8124825" y="1323975"/>
            <a:ext cx="704850" cy="704850"/>
            <a:chOff x="8124825" y="1323975"/>
            <a:chExt cx="704850" cy="704850"/>
          </a:xfrm>
        </p:grpSpPr>
        <p:sp>
          <p:nvSpPr>
            <p:cNvPr id="15" name="object 15"/>
            <p:cNvSpPr/>
            <p:nvPr/>
          </p:nvSpPr>
          <p:spPr>
            <a:xfrm>
              <a:off x="8139112" y="1338262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38137" y="676275"/>
                  </a:moveTo>
                  <a:lnTo>
                    <a:pt x="296744" y="673731"/>
                  </a:lnTo>
                  <a:lnTo>
                    <a:pt x="255976" y="666141"/>
                  </a:lnTo>
                  <a:lnTo>
                    <a:pt x="216444" y="653618"/>
                  </a:lnTo>
                  <a:lnTo>
                    <a:pt x="178739" y="636348"/>
                  </a:lnTo>
                  <a:lnTo>
                    <a:pt x="143431" y="614592"/>
                  </a:lnTo>
                  <a:lnTo>
                    <a:pt x="111056" y="588681"/>
                  </a:lnTo>
                  <a:lnTo>
                    <a:pt x="82097" y="559001"/>
                  </a:lnTo>
                  <a:lnTo>
                    <a:pt x="56985" y="525996"/>
                  </a:lnTo>
                  <a:lnTo>
                    <a:pt x="36102" y="490165"/>
                  </a:lnTo>
                  <a:lnTo>
                    <a:pt x="19765" y="452052"/>
                  </a:lnTo>
                  <a:lnTo>
                    <a:pt x="8215" y="412226"/>
                  </a:lnTo>
                  <a:lnTo>
                    <a:pt x="1628" y="37128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8" y="208737"/>
                  </a:lnTo>
                  <a:lnTo>
                    <a:pt x="43928" y="171467"/>
                  </a:lnTo>
                  <a:lnTo>
                    <a:pt x="66541" y="136708"/>
                  </a:lnTo>
                  <a:lnTo>
                    <a:pt x="93239" y="104979"/>
                  </a:lnTo>
                  <a:lnTo>
                    <a:pt x="123624" y="76753"/>
                  </a:lnTo>
                  <a:lnTo>
                    <a:pt x="157235" y="52459"/>
                  </a:lnTo>
                  <a:lnTo>
                    <a:pt x="193563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1" y="3659"/>
                  </a:lnTo>
                  <a:lnTo>
                    <a:pt x="428319" y="12248"/>
                  </a:lnTo>
                  <a:lnTo>
                    <a:pt x="467534" y="25739"/>
                  </a:lnTo>
                  <a:lnTo>
                    <a:pt x="504805" y="43929"/>
                  </a:lnTo>
                  <a:lnTo>
                    <a:pt x="539564" y="66542"/>
                  </a:lnTo>
                  <a:lnTo>
                    <a:pt x="571294" y="93240"/>
                  </a:lnTo>
                  <a:lnTo>
                    <a:pt x="599520" y="123625"/>
                  </a:lnTo>
                  <a:lnTo>
                    <a:pt x="623814" y="157236"/>
                  </a:lnTo>
                  <a:lnTo>
                    <a:pt x="643809" y="193564"/>
                  </a:lnTo>
                  <a:lnTo>
                    <a:pt x="659207" y="232067"/>
                  </a:lnTo>
                  <a:lnTo>
                    <a:pt x="669776" y="272170"/>
                  </a:lnTo>
                  <a:lnTo>
                    <a:pt x="675359" y="313265"/>
                  </a:lnTo>
                  <a:lnTo>
                    <a:pt x="676275" y="338137"/>
                  </a:lnTo>
                  <a:lnTo>
                    <a:pt x="676173" y="346438"/>
                  </a:lnTo>
                  <a:lnTo>
                    <a:pt x="672614" y="387752"/>
                  </a:lnTo>
                  <a:lnTo>
                    <a:pt x="664026" y="428320"/>
                  </a:lnTo>
                  <a:lnTo>
                    <a:pt x="650534" y="467536"/>
                  </a:lnTo>
                  <a:lnTo>
                    <a:pt x="632345" y="504806"/>
                  </a:lnTo>
                  <a:lnTo>
                    <a:pt x="609730" y="539565"/>
                  </a:lnTo>
                  <a:lnTo>
                    <a:pt x="583033" y="571295"/>
                  </a:lnTo>
                  <a:lnTo>
                    <a:pt x="552648" y="599521"/>
                  </a:lnTo>
                  <a:lnTo>
                    <a:pt x="519036" y="623815"/>
                  </a:lnTo>
                  <a:lnTo>
                    <a:pt x="482708" y="643810"/>
                  </a:lnTo>
                  <a:lnTo>
                    <a:pt x="444206" y="659207"/>
                  </a:lnTo>
                  <a:lnTo>
                    <a:pt x="404103" y="669777"/>
                  </a:lnTo>
                  <a:lnTo>
                    <a:pt x="363009" y="675359"/>
                  </a:lnTo>
                  <a:lnTo>
                    <a:pt x="338137" y="676275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139112" y="1338262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75" y="338137"/>
                  </a:moveTo>
                  <a:lnTo>
                    <a:pt x="673731" y="379531"/>
                  </a:lnTo>
                  <a:lnTo>
                    <a:pt x="666141" y="420298"/>
                  </a:lnTo>
                  <a:lnTo>
                    <a:pt x="653617" y="459829"/>
                  </a:lnTo>
                  <a:lnTo>
                    <a:pt x="636348" y="497534"/>
                  </a:lnTo>
                  <a:lnTo>
                    <a:pt x="614590" y="532841"/>
                  </a:lnTo>
                  <a:lnTo>
                    <a:pt x="588679" y="565217"/>
                  </a:lnTo>
                  <a:lnTo>
                    <a:pt x="559000" y="594176"/>
                  </a:lnTo>
                  <a:lnTo>
                    <a:pt x="525994" y="619288"/>
                  </a:lnTo>
                  <a:lnTo>
                    <a:pt x="490164" y="640171"/>
                  </a:lnTo>
                  <a:lnTo>
                    <a:pt x="452051" y="656509"/>
                  </a:lnTo>
                  <a:lnTo>
                    <a:pt x="412224" y="668058"/>
                  </a:lnTo>
                  <a:lnTo>
                    <a:pt x="371280" y="674646"/>
                  </a:lnTo>
                  <a:lnTo>
                    <a:pt x="338137" y="676275"/>
                  </a:lnTo>
                  <a:lnTo>
                    <a:pt x="329837" y="676173"/>
                  </a:lnTo>
                  <a:lnTo>
                    <a:pt x="288522" y="672615"/>
                  </a:lnTo>
                  <a:lnTo>
                    <a:pt x="247953" y="664027"/>
                  </a:lnTo>
                  <a:lnTo>
                    <a:pt x="208736" y="650535"/>
                  </a:lnTo>
                  <a:lnTo>
                    <a:pt x="171466" y="632345"/>
                  </a:lnTo>
                  <a:lnTo>
                    <a:pt x="136707" y="609732"/>
                  </a:lnTo>
                  <a:lnTo>
                    <a:pt x="104978" y="583034"/>
                  </a:lnTo>
                  <a:lnTo>
                    <a:pt x="76753" y="552649"/>
                  </a:lnTo>
                  <a:lnTo>
                    <a:pt x="52458" y="519038"/>
                  </a:lnTo>
                  <a:lnTo>
                    <a:pt x="32463" y="482709"/>
                  </a:lnTo>
                  <a:lnTo>
                    <a:pt x="17066" y="444207"/>
                  </a:lnTo>
                  <a:lnTo>
                    <a:pt x="6496" y="404104"/>
                  </a:lnTo>
                  <a:lnTo>
                    <a:pt x="916" y="36301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8" y="208737"/>
                  </a:lnTo>
                  <a:lnTo>
                    <a:pt x="43928" y="171467"/>
                  </a:lnTo>
                  <a:lnTo>
                    <a:pt x="66541" y="136708"/>
                  </a:lnTo>
                  <a:lnTo>
                    <a:pt x="93239" y="104979"/>
                  </a:lnTo>
                  <a:lnTo>
                    <a:pt x="123624" y="76753"/>
                  </a:lnTo>
                  <a:lnTo>
                    <a:pt x="157235" y="52459"/>
                  </a:lnTo>
                  <a:lnTo>
                    <a:pt x="193563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1" y="3659"/>
                  </a:lnTo>
                  <a:lnTo>
                    <a:pt x="428319" y="12248"/>
                  </a:lnTo>
                  <a:lnTo>
                    <a:pt x="467534" y="25739"/>
                  </a:lnTo>
                  <a:lnTo>
                    <a:pt x="504805" y="43929"/>
                  </a:lnTo>
                  <a:lnTo>
                    <a:pt x="539564" y="66542"/>
                  </a:lnTo>
                  <a:lnTo>
                    <a:pt x="571294" y="93240"/>
                  </a:lnTo>
                  <a:lnTo>
                    <a:pt x="599520" y="123625"/>
                  </a:lnTo>
                  <a:lnTo>
                    <a:pt x="623814" y="157236"/>
                  </a:lnTo>
                  <a:lnTo>
                    <a:pt x="643809" y="193564"/>
                  </a:lnTo>
                  <a:lnTo>
                    <a:pt x="659207" y="232067"/>
                  </a:lnTo>
                  <a:lnTo>
                    <a:pt x="669776" y="272170"/>
                  </a:lnTo>
                  <a:lnTo>
                    <a:pt x="675359" y="313265"/>
                  </a:lnTo>
                  <a:lnTo>
                    <a:pt x="676275" y="338137"/>
                  </a:lnTo>
                  <a:close/>
                </a:path>
              </a:pathLst>
            </a:custGeom>
            <a:ln w="28575">
              <a:solidFill>
                <a:srgbClr val="B994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315325" y="15144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323850" y="323850"/>
                  </a:moveTo>
                  <a:lnTo>
                    <a:pt x="0" y="323850"/>
                  </a:lnTo>
                  <a:lnTo>
                    <a:pt x="0" y="0"/>
                  </a:lnTo>
                  <a:lnTo>
                    <a:pt x="323850" y="0"/>
                  </a:lnTo>
                  <a:lnTo>
                    <a:pt x="323850" y="323850"/>
                  </a:lnTo>
                  <a:close/>
                </a:path>
              </a:pathLst>
            </a:custGeom>
            <a:solidFill>
              <a:srgbClr val="B994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44500" y="2002754"/>
            <a:ext cx="3503929" cy="117792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 spc="65">
                <a:solidFill>
                  <a:srgbClr val="EDE9E1"/>
                </a:solidFill>
                <a:latin typeface="Arial"/>
                <a:cs typeface="Arial"/>
              </a:rPr>
              <a:t>Multi-</a:t>
            </a:r>
            <a:r>
              <a:rPr dirty="0" sz="1900" spc="-25">
                <a:solidFill>
                  <a:srgbClr val="EDE9E1"/>
                </a:solidFill>
                <a:latin typeface="Arial"/>
                <a:cs typeface="Arial"/>
              </a:rPr>
              <a:t>source</a:t>
            </a:r>
            <a:r>
              <a:rPr dirty="0" sz="1900" spc="-9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intake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3999"/>
              </a:lnSpc>
              <a:spcBef>
                <a:spcPts val="860"/>
              </a:spcBef>
            </a:pP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News,</a:t>
            </a:r>
            <a:r>
              <a:rPr dirty="0" sz="17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social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sentiment,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optional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public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RSS.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6000" y="2002754"/>
            <a:ext cx="3209925" cy="882650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Interpretable</a:t>
            </a:r>
            <a:r>
              <a:rPr dirty="0" sz="1900" spc="9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sentiment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700" spc="-30">
                <a:solidFill>
                  <a:srgbClr val="D6D4CC"/>
                </a:solidFill>
                <a:latin typeface="Arial"/>
                <a:cs typeface="Arial"/>
              </a:rPr>
              <a:t>Scores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range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from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160">
                <a:solidFill>
                  <a:srgbClr val="D6D4CC"/>
                </a:solidFill>
                <a:latin typeface="Arial"/>
                <a:cs typeface="Arial"/>
              </a:rPr>
              <a:t>-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1.00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85">
                <a:solidFill>
                  <a:srgbClr val="D6D4CC"/>
                </a:solidFill>
                <a:latin typeface="Arial"/>
                <a:cs typeface="Arial"/>
              </a:rPr>
              <a:t>to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+1.00.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15250" y="2002754"/>
            <a:ext cx="3195955" cy="117792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Eight</a:t>
            </a:r>
            <a:r>
              <a:rPr dirty="0" sz="1900" spc="-3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event</a:t>
            </a:r>
            <a:r>
              <a:rPr dirty="0" sz="1900" spc="-2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classes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3999"/>
              </a:lnSpc>
              <a:spcBef>
                <a:spcPts val="860"/>
              </a:spcBef>
            </a:pP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Financial</a:t>
            </a:r>
            <a:r>
              <a:rPr dirty="0" sz="17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events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are</a:t>
            </a:r>
            <a:r>
              <a:rPr dirty="0" sz="17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grouped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into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eight</a:t>
            </a:r>
            <a:r>
              <a:rPr dirty="0" sz="1700" spc="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categories.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" y="4019550"/>
            <a:ext cx="704850" cy="704850"/>
            <a:chOff x="457200" y="4019550"/>
            <a:chExt cx="704850" cy="704850"/>
          </a:xfrm>
        </p:grpSpPr>
        <p:sp>
          <p:nvSpPr>
            <p:cNvPr id="20" name="object 20"/>
            <p:cNvSpPr/>
            <p:nvPr/>
          </p:nvSpPr>
          <p:spPr>
            <a:xfrm>
              <a:off x="471487" y="4033837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38137" y="676275"/>
                  </a:moveTo>
                  <a:lnTo>
                    <a:pt x="296743" y="673731"/>
                  </a:lnTo>
                  <a:lnTo>
                    <a:pt x="255976" y="666141"/>
                  </a:lnTo>
                  <a:lnTo>
                    <a:pt x="216445" y="653618"/>
                  </a:lnTo>
                  <a:lnTo>
                    <a:pt x="178740" y="636348"/>
                  </a:lnTo>
                  <a:lnTo>
                    <a:pt x="143432" y="614592"/>
                  </a:lnTo>
                  <a:lnTo>
                    <a:pt x="111058" y="588680"/>
                  </a:lnTo>
                  <a:lnTo>
                    <a:pt x="82098" y="559001"/>
                  </a:lnTo>
                  <a:lnTo>
                    <a:pt x="56986" y="525996"/>
                  </a:lnTo>
                  <a:lnTo>
                    <a:pt x="36103" y="490165"/>
                  </a:lnTo>
                  <a:lnTo>
                    <a:pt x="19765" y="452052"/>
                  </a:lnTo>
                  <a:lnTo>
                    <a:pt x="8216" y="412226"/>
                  </a:lnTo>
                  <a:lnTo>
                    <a:pt x="1628" y="371281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9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5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7" y="17067"/>
                  </a:lnTo>
                  <a:lnTo>
                    <a:pt x="272170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7" y="25738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4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69"/>
                  </a:lnTo>
                  <a:lnTo>
                    <a:pt x="675359" y="313265"/>
                  </a:lnTo>
                  <a:lnTo>
                    <a:pt x="676275" y="338137"/>
                  </a:lnTo>
                  <a:lnTo>
                    <a:pt x="676173" y="346438"/>
                  </a:lnTo>
                  <a:lnTo>
                    <a:pt x="672615" y="387752"/>
                  </a:lnTo>
                  <a:lnTo>
                    <a:pt x="664027" y="428320"/>
                  </a:lnTo>
                  <a:lnTo>
                    <a:pt x="650535" y="467537"/>
                  </a:lnTo>
                  <a:lnTo>
                    <a:pt x="632345" y="504806"/>
                  </a:lnTo>
                  <a:lnTo>
                    <a:pt x="609732" y="539565"/>
                  </a:lnTo>
                  <a:lnTo>
                    <a:pt x="583034" y="571295"/>
                  </a:lnTo>
                  <a:lnTo>
                    <a:pt x="552649" y="599521"/>
                  </a:lnTo>
                  <a:lnTo>
                    <a:pt x="519038" y="623815"/>
                  </a:lnTo>
                  <a:lnTo>
                    <a:pt x="482709" y="643810"/>
                  </a:lnTo>
                  <a:lnTo>
                    <a:pt x="444207" y="659207"/>
                  </a:lnTo>
                  <a:lnTo>
                    <a:pt x="404104" y="669777"/>
                  </a:lnTo>
                  <a:lnTo>
                    <a:pt x="363010" y="675359"/>
                  </a:lnTo>
                  <a:lnTo>
                    <a:pt x="338137" y="676275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71487" y="4033837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75" y="338137"/>
                  </a:moveTo>
                  <a:lnTo>
                    <a:pt x="673731" y="379532"/>
                  </a:lnTo>
                  <a:lnTo>
                    <a:pt x="666141" y="420298"/>
                  </a:lnTo>
                  <a:lnTo>
                    <a:pt x="653618" y="459829"/>
                  </a:lnTo>
                  <a:lnTo>
                    <a:pt x="636348" y="497534"/>
                  </a:lnTo>
                  <a:lnTo>
                    <a:pt x="614592" y="532841"/>
                  </a:lnTo>
                  <a:lnTo>
                    <a:pt x="588680" y="565216"/>
                  </a:lnTo>
                  <a:lnTo>
                    <a:pt x="559001" y="594176"/>
                  </a:lnTo>
                  <a:lnTo>
                    <a:pt x="525996" y="619288"/>
                  </a:lnTo>
                  <a:lnTo>
                    <a:pt x="490165" y="640171"/>
                  </a:lnTo>
                  <a:lnTo>
                    <a:pt x="452052" y="656508"/>
                  </a:lnTo>
                  <a:lnTo>
                    <a:pt x="412226" y="668058"/>
                  </a:lnTo>
                  <a:lnTo>
                    <a:pt x="371280" y="674646"/>
                  </a:lnTo>
                  <a:lnTo>
                    <a:pt x="338137" y="676275"/>
                  </a:lnTo>
                  <a:lnTo>
                    <a:pt x="329836" y="676173"/>
                  </a:lnTo>
                  <a:lnTo>
                    <a:pt x="288522" y="672615"/>
                  </a:lnTo>
                  <a:lnTo>
                    <a:pt x="247954" y="664026"/>
                  </a:lnTo>
                  <a:lnTo>
                    <a:pt x="208737" y="650535"/>
                  </a:lnTo>
                  <a:lnTo>
                    <a:pt x="171467" y="632345"/>
                  </a:lnTo>
                  <a:lnTo>
                    <a:pt x="136709" y="609732"/>
                  </a:lnTo>
                  <a:lnTo>
                    <a:pt x="104979" y="583034"/>
                  </a:lnTo>
                  <a:lnTo>
                    <a:pt x="76753" y="552649"/>
                  </a:lnTo>
                  <a:lnTo>
                    <a:pt x="52459" y="519037"/>
                  </a:lnTo>
                  <a:lnTo>
                    <a:pt x="32464" y="482709"/>
                  </a:lnTo>
                  <a:lnTo>
                    <a:pt x="17067" y="444207"/>
                  </a:lnTo>
                  <a:lnTo>
                    <a:pt x="6497" y="404104"/>
                  </a:lnTo>
                  <a:lnTo>
                    <a:pt x="915" y="36301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9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5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7" y="17067"/>
                  </a:lnTo>
                  <a:lnTo>
                    <a:pt x="272170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7" y="25738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4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69"/>
                  </a:lnTo>
                  <a:lnTo>
                    <a:pt x="675359" y="313265"/>
                  </a:lnTo>
                  <a:lnTo>
                    <a:pt x="676275" y="338137"/>
                  </a:lnTo>
                  <a:close/>
                </a:path>
              </a:pathLst>
            </a:custGeom>
            <a:ln w="28575">
              <a:solidFill>
                <a:srgbClr val="B994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47700" y="421005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323850" y="323850"/>
                  </a:moveTo>
                  <a:lnTo>
                    <a:pt x="0" y="323850"/>
                  </a:lnTo>
                  <a:lnTo>
                    <a:pt x="0" y="0"/>
                  </a:lnTo>
                  <a:lnTo>
                    <a:pt x="323850" y="0"/>
                  </a:lnTo>
                  <a:lnTo>
                    <a:pt x="323850" y="323850"/>
                  </a:lnTo>
                  <a:close/>
                </a:path>
              </a:pathLst>
            </a:custGeom>
            <a:solidFill>
              <a:srgbClr val="B994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4371975" y="4019550"/>
            <a:ext cx="704850" cy="704850"/>
            <a:chOff x="4371975" y="4019550"/>
            <a:chExt cx="704850" cy="704850"/>
          </a:xfrm>
        </p:grpSpPr>
        <p:sp>
          <p:nvSpPr>
            <p:cNvPr id="25" name="object 25"/>
            <p:cNvSpPr/>
            <p:nvPr/>
          </p:nvSpPr>
          <p:spPr>
            <a:xfrm>
              <a:off x="4386262" y="4033837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38137" y="676275"/>
                  </a:moveTo>
                  <a:lnTo>
                    <a:pt x="296743" y="673731"/>
                  </a:lnTo>
                  <a:lnTo>
                    <a:pt x="255976" y="666141"/>
                  </a:lnTo>
                  <a:lnTo>
                    <a:pt x="216445" y="653618"/>
                  </a:lnTo>
                  <a:lnTo>
                    <a:pt x="178740" y="636348"/>
                  </a:lnTo>
                  <a:lnTo>
                    <a:pt x="143432" y="614592"/>
                  </a:lnTo>
                  <a:lnTo>
                    <a:pt x="111057" y="588680"/>
                  </a:lnTo>
                  <a:lnTo>
                    <a:pt x="82098" y="559001"/>
                  </a:lnTo>
                  <a:lnTo>
                    <a:pt x="56985" y="525996"/>
                  </a:lnTo>
                  <a:lnTo>
                    <a:pt x="36103" y="490165"/>
                  </a:lnTo>
                  <a:lnTo>
                    <a:pt x="19765" y="452052"/>
                  </a:lnTo>
                  <a:lnTo>
                    <a:pt x="8216" y="412226"/>
                  </a:lnTo>
                  <a:lnTo>
                    <a:pt x="1628" y="371281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8" y="247954"/>
                  </a:lnTo>
                  <a:lnTo>
                    <a:pt x="25738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4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6" y="25738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4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69"/>
                  </a:lnTo>
                  <a:lnTo>
                    <a:pt x="675359" y="313265"/>
                  </a:lnTo>
                  <a:lnTo>
                    <a:pt x="676275" y="338137"/>
                  </a:lnTo>
                  <a:lnTo>
                    <a:pt x="676173" y="346438"/>
                  </a:lnTo>
                  <a:lnTo>
                    <a:pt x="672615" y="387752"/>
                  </a:lnTo>
                  <a:lnTo>
                    <a:pt x="664026" y="428320"/>
                  </a:lnTo>
                  <a:lnTo>
                    <a:pt x="650535" y="467537"/>
                  </a:lnTo>
                  <a:lnTo>
                    <a:pt x="632345" y="504806"/>
                  </a:lnTo>
                  <a:lnTo>
                    <a:pt x="609732" y="539565"/>
                  </a:lnTo>
                  <a:lnTo>
                    <a:pt x="583034" y="571295"/>
                  </a:lnTo>
                  <a:lnTo>
                    <a:pt x="552649" y="599521"/>
                  </a:lnTo>
                  <a:lnTo>
                    <a:pt x="519037" y="623815"/>
                  </a:lnTo>
                  <a:lnTo>
                    <a:pt x="482709" y="643810"/>
                  </a:lnTo>
                  <a:lnTo>
                    <a:pt x="444207" y="659207"/>
                  </a:lnTo>
                  <a:lnTo>
                    <a:pt x="404104" y="669777"/>
                  </a:lnTo>
                  <a:lnTo>
                    <a:pt x="363010" y="675359"/>
                  </a:lnTo>
                  <a:lnTo>
                    <a:pt x="338137" y="676275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386262" y="4033837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75" y="338137"/>
                  </a:moveTo>
                  <a:lnTo>
                    <a:pt x="673732" y="379532"/>
                  </a:lnTo>
                  <a:lnTo>
                    <a:pt x="666141" y="420298"/>
                  </a:lnTo>
                  <a:lnTo>
                    <a:pt x="653618" y="459829"/>
                  </a:lnTo>
                  <a:lnTo>
                    <a:pt x="636348" y="497534"/>
                  </a:lnTo>
                  <a:lnTo>
                    <a:pt x="614592" y="532841"/>
                  </a:lnTo>
                  <a:lnTo>
                    <a:pt x="588681" y="565216"/>
                  </a:lnTo>
                  <a:lnTo>
                    <a:pt x="559001" y="594176"/>
                  </a:lnTo>
                  <a:lnTo>
                    <a:pt x="525996" y="619288"/>
                  </a:lnTo>
                  <a:lnTo>
                    <a:pt x="490165" y="640171"/>
                  </a:lnTo>
                  <a:lnTo>
                    <a:pt x="452052" y="656508"/>
                  </a:lnTo>
                  <a:lnTo>
                    <a:pt x="412225" y="668058"/>
                  </a:lnTo>
                  <a:lnTo>
                    <a:pt x="371280" y="674646"/>
                  </a:lnTo>
                  <a:lnTo>
                    <a:pt x="338137" y="676275"/>
                  </a:lnTo>
                  <a:lnTo>
                    <a:pt x="329836" y="676173"/>
                  </a:lnTo>
                  <a:lnTo>
                    <a:pt x="288522" y="672615"/>
                  </a:lnTo>
                  <a:lnTo>
                    <a:pt x="247953" y="664026"/>
                  </a:lnTo>
                  <a:lnTo>
                    <a:pt x="208737" y="650535"/>
                  </a:lnTo>
                  <a:lnTo>
                    <a:pt x="171467" y="632345"/>
                  </a:lnTo>
                  <a:lnTo>
                    <a:pt x="136708" y="609732"/>
                  </a:lnTo>
                  <a:lnTo>
                    <a:pt x="104979" y="583034"/>
                  </a:lnTo>
                  <a:lnTo>
                    <a:pt x="76753" y="552649"/>
                  </a:lnTo>
                  <a:lnTo>
                    <a:pt x="52459" y="519037"/>
                  </a:lnTo>
                  <a:lnTo>
                    <a:pt x="32464" y="482709"/>
                  </a:lnTo>
                  <a:lnTo>
                    <a:pt x="17067" y="444207"/>
                  </a:lnTo>
                  <a:lnTo>
                    <a:pt x="6496" y="404104"/>
                  </a:lnTo>
                  <a:lnTo>
                    <a:pt x="916" y="36301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8" y="247954"/>
                  </a:lnTo>
                  <a:lnTo>
                    <a:pt x="25738" y="208737"/>
                  </a:lnTo>
                  <a:lnTo>
                    <a:pt x="43929" y="171467"/>
                  </a:lnTo>
                  <a:lnTo>
                    <a:pt x="66542" y="136708"/>
                  </a:lnTo>
                  <a:lnTo>
                    <a:pt x="93240" y="104979"/>
                  </a:lnTo>
                  <a:lnTo>
                    <a:pt x="123624" y="76753"/>
                  </a:lnTo>
                  <a:lnTo>
                    <a:pt x="157236" y="52459"/>
                  </a:lnTo>
                  <a:lnTo>
                    <a:pt x="193564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2" y="3659"/>
                  </a:lnTo>
                  <a:lnTo>
                    <a:pt x="428320" y="12248"/>
                  </a:lnTo>
                  <a:lnTo>
                    <a:pt x="467536" y="25738"/>
                  </a:lnTo>
                  <a:lnTo>
                    <a:pt x="504807" y="43929"/>
                  </a:lnTo>
                  <a:lnTo>
                    <a:pt x="539565" y="66542"/>
                  </a:lnTo>
                  <a:lnTo>
                    <a:pt x="571295" y="93240"/>
                  </a:lnTo>
                  <a:lnTo>
                    <a:pt x="599521" y="123624"/>
                  </a:lnTo>
                  <a:lnTo>
                    <a:pt x="623815" y="157236"/>
                  </a:lnTo>
                  <a:lnTo>
                    <a:pt x="643810" y="193564"/>
                  </a:lnTo>
                  <a:lnTo>
                    <a:pt x="659207" y="232067"/>
                  </a:lnTo>
                  <a:lnTo>
                    <a:pt x="669777" y="272169"/>
                  </a:lnTo>
                  <a:lnTo>
                    <a:pt x="675359" y="313265"/>
                  </a:lnTo>
                  <a:lnTo>
                    <a:pt x="676275" y="338137"/>
                  </a:lnTo>
                  <a:close/>
                </a:path>
              </a:pathLst>
            </a:custGeom>
            <a:ln w="28575">
              <a:solidFill>
                <a:srgbClr val="B994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62475" y="421005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323850" y="323850"/>
                  </a:moveTo>
                  <a:lnTo>
                    <a:pt x="0" y="323850"/>
                  </a:lnTo>
                  <a:lnTo>
                    <a:pt x="0" y="0"/>
                  </a:lnTo>
                  <a:lnTo>
                    <a:pt x="323850" y="0"/>
                  </a:lnTo>
                  <a:lnTo>
                    <a:pt x="323850" y="323850"/>
                  </a:lnTo>
                  <a:close/>
                </a:path>
              </a:pathLst>
            </a:custGeom>
            <a:solidFill>
              <a:srgbClr val="B9945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8124825" y="4019550"/>
            <a:ext cx="704850" cy="704850"/>
            <a:chOff x="8124825" y="4019550"/>
            <a:chExt cx="704850" cy="704850"/>
          </a:xfrm>
        </p:grpSpPr>
        <p:sp>
          <p:nvSpPr>
            <p:cNvPr id="30" name="object 30"/>
            <p:cNvSpPr/>
            <p:nvPr/>
          </p:nvSpPr>
          <p:spPr>
            <a:xfrm>
              <a:off x="8139112" y="4033837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338137" y="676275"/>
                  </a:moveTo>
                  <a:lnTo>
                    <a:pt x="296744" y="673731"/>
                  </a:lnTo>
                  <a:lnTo>
                    <a:pt x="255976" y="666141"/>
                  </a:lnTo>
                  <a:lnTo>
                    <a:pt x="216444" y="653618"/>
                  </a:lnTo>
                  <a:lnTo>
                    <a:pt x="178739" y="636348"/>
                  </a:lnTo>
                  <a:lnTo>
                    <a:pt x="143431" y="614592"/>
                  </a:lnTo>
                  <a:lnTo>
                    <a:pt x="111056" y="588680"/>
                  </a:lnTo>
                  <a:lnTo>
                    <a:pt x="82097" y="559001"/>
                  </a:lnTo>
                  <a:lnTo>
                    <a:pt x="56985" y="525996"/>
                  </a:lnTo>
                  <a:lnTo>
                    <a:pt x="36102" y="490165"/>
                  </a:lnTo>
                  <a:lnTo>
                    <a:pt x="19765" y="452052"/>
                  </a:lnTo>
                  <a:lnTo>
                    <a:pt x="8215" y="412226"/>
                  </a:lnTo>
                  <a:lnTo>
                    <a:pt x="1628" y="371281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8" y="208737"/>
                  </a:lnTo>
                  <a:lnTo>
                    <a:pt x="43928" y="171467"/>
                  </a:lnTo>
                  <a:lnTo>
                    <a:pt x="66541" y="136708"/>
                  </a:lnTo>
                  <a:lnTo>
                    <a:pt x="93239" y="104979"/>
                  </a:lnTo>
                  <a:lnTo>
                    <a:pt x="123624" y="76753"/>
                  </a:lnTo>
                  <a:lnTo>
                    <a:pt x="157235" y="52459"/>
                  </a:lnTo>
                  <a:lnTo>
                    <a:pt x="193563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1" y="3659"/>
                  </a:lnTo>
                  <a:lnTo>
                    <a:pt x="428319" y="12248"/>
                  </a:lnTo>
                  <a:lnTo>
                    <a:pt x="467534" y="25738"/>
                  </a:lnTo>
                  <a:lnTo>
                    <a:pt x="504805" y="43929"/>
                  </a:lnTo>
                  <a:lnTo>
                    <a:pt x="539564" y="66542"/>
                  </a:lnTo>
                  <a:lnTo>
                    <a:pt x="571294" y="93240"/>
                  </a:lnTo>
                  <a:lnTo>
                    <a:pt x="599520" y="123624"/>
                  </a:lnTo>
                  <a:lnTo>
                    <a:pt x="623814" y="157236"/>
                  </a:lnTo>
                  <a:lnTo>
                    <a:pt x="643809" y="193564"/>
                  </a:lnTo>
                  <a:lnTo>
                    <a:pt x="659207" y="232067"/>
                  </a:lnTo>
                  <a:lnTo>
                    <a:pt x="669776" y="272169"/>
                  </a:lnTo>
                  <a:lnTo>
                    <a:pt x="675359" y="313265"/>
                  </a:lnTo>
                  <a:lnTo>
                    <a:pt x="676275" y="338137"/>
                  </a:lnTo>
                  <a:lnTo>
                    <a:pt x="676173" y="346438"/>
                  </a:lnTo>
                  <a:lnTo>
                    <a:pt x="672614" y="387752"/>
                  </a:lnTo>
                  <a:lnTo>
                    <a:pt x="664026" y="428320"/>
                  </a:lnTo>
                  <a:lnTo>
                    <a:pt x="650534" y="467537"/>
                  </a:lnTo>
                  <a:lnTo>
                    <a:pt x="632345" y="504806"/>
                  </a:lnTo>
                  <a:lnTo>
                    <a:pt x="609730" y="539565"/>
                  </a:lnTo>
                  <a:lnTo>
                    <a:pt x="583033" y="571295"/>
                  </a:lnTo>
                  <a:lnTo>
                    <a:pt x="552648" y="599521"/>
                  </a:lnTo>
                  <a:lnTo>
                    <a:pt x="519036" y="623815"/>
                  </a:lnTo>
                  <a:lnTo>
                    <a:pt x="482708" y="643810"/>
                  </a:lnTo>
                  <a:lnTo>
                    <a:pt x="444206" y="659207"/>
                  </a:lnTo>
                  <a:lnTo>
                    <a:pt x="404103" y="669777"/>
                  </a:lnTo>
                  <a:lnTo>
                    <a:pt x="363009" y="675359"/>
                  </a:lnTo>
                  <a:lnTo>
                    <a:pt x="338137" y="676275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39112" y="4033837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75" y="338137"/>
                  </a:moveTo>
                  <a:lnTo>
                    <a:pt x="673731" y="379532"/>
                  </a:lnTo>
                  <a:lnTo>
                    <a:pt x="666141" y="420298"/>
                  </a:lnTo>
                  <a:lnTo>
                    <a:pt x="653617" y="459829"/>
                  </a:lnTo>
                  <a:lnTo>
                    <a:pt x="636348" y="497534"/>
                  </a:lnTo>
                  <a:lnTo>
                    <a:pt x="614590" y="532841"/>
                  </a:lnTo>
                  <a:lnTo>
                    <a:pt x="588679" y="565216"/>
                  </a:lnTo>
                  <a:lnTo>
                    <a:pt x="559000" y="594176"/>
                  </a:lnTo>
                  <a:lnTo>
                    <a:pt x="525994" y="619288"/>
                  </a:lnTo>
                  <a:lnTo>
                    <a:pt x="490164" y="640171"/>
                  </a:lnTo>
                  <a:lnTo>
                    <a:pt x="452051" y="656508"/>
                  </a:lnTo>
                  <a:lnTo>
                    <a:pt x="412224" y="668058"/>
                  </a:lnTo>
                  <a:lnTo>
                    <a:pt x="371280" y="674646"/>
                  </a:lnTo>
                  <a:lnTo>
                    <a:pt x="338137" y="676275"/>
                  </a:lnTo>
                  <a:lnTo>
                    <a:pt x="329837" y="676173"/>
                  </a:lnTo>
                  <a:lnTo>
                    <a:pt x="288522" y="672615"/>
                  </a:lnTo>
                  <a:lnTo>
                    <a:pt x="247953" y="664026"/>
                  </a:lnTo>
                  <a:lnTo>
                    <a:pt x="208736" y="650535"/>
                  </a:lnTo>
                  <a:lnTo>
                    <a:pt x="171466" y="632345"/>
                  </a:lnTo>
                  <a:lnTo>
                    <a:pt x="136707" y="609732"/>
                  </a:lnTo>
                  <a:lnTo>
                    <a:pt x="104978" y="583034"/>
                  </a:lnTo>
                  <a:lnTo>
                    <a:pt x="76753" y="552649"/>
                  </a:lnTo>
                  <a:lnTo>
                    <a:pt x="52458" y="519037"/>
                  </a:lnTo>
                  <a:lnTo>
                    <a:pt x="32463" y="482709"/>
                  </a:lnTo>
                  <a:lnTo>
                    <a:pt x="17066" y="444207"/>
                  </a:lnTo>
                  <a:lnTo>
                    <a:pt x="6496" y="404104"/>
                  </a:lnTo>
                  <a:lnTo>
                    <a:pt x="916" y="363010"/>
                  </a:lnTo>
                  <a:lnTo>
                    <a:pt x="0" y="338137"/>
                  </a:lnTo>
                  <a:lnTo>
                    <a:pt x="101" y="329836"/>
                  </a:lnTo>
                  <a:lnTo>
                    <a:pt x="3659" y="288522"/>
                  </a:lnTo>
                  <a:lnTo>
                    <a:pt x="12247" y="247954"/>
                  </a:lnTo>
                  <a:lnTo>
                    <a:pt x="25738" y="208737"/>
                  </a:lnTo>
                  <a:lnTo>
                    <a:pt x="43928" y="171467"/>
                  </a:lnTo>
                  <a:lnTo>
                    <a:pt x="66541" y="136708"/>
                  </a:lnTo>
                  <a:lnTo>
                    <a:pt x="93239" y="104979"/>
                  </a:lnTo>
                  <a:lnTo>
                    <a:pt x="123624" y="76753"/>
                  </a:lnTo>
                  <a:lnTo>
                    <a:pt x="157235" y="52459"/>
                  </a:lnTo>
                  <a:lnTo>
                    <a:pt x="193563" y="32464"/>
                  </a:lnTo>
                  <a:lnTo>
                    <a:pt x="232066" y="17067"/>
                  </a:lnTo>
                  <a:lnTo>
                    <a:pt x="272169" y="6497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8" y="101"/>
                  </a:lnTo>
                  <a:lnTo>
                    <a:pt x="387751" y="3659"/>
                  </a:lnTo>
                  <a:lnTo>
                    <a:pt x="428319" y="12248"/>
                  </a:lnTo>
                  <a:lnTo>
                    <a:pt x="467534" y="25738"/>
                  </a:lnTo>
                  <a:lnTo>
                    <a:pt x="504805" y="43929"/>
                  </a:lnTo>
                  <a:lnTo>
                    <a:pt x="539564" y="66542"/>
                  </a:lnTo>
                  <a:lnTo>
                    <a:pt x="571294" y="93240"/>
                  </a:lnTo>
                  <a:lnTo>
                    <a:pt x="599520" y="123624"/>
                  </a:lnTo>
                  <a:lnTo>
                    <a:pt x="623814" y="157236"/>
                  </a:lnTo>
                  <a:lnTo>
                    <a:pt x="643809" y="193564"/>
                  </a:lnTo>
                  <a:lnTo>
                    <a:pt x="659207" y="232067"/>
                  </a:lnTo>
                  <a:lnTo>
                    <a:pt x="669776" y="272169"/>
                  </a:lnTo>
                  <a:lnTo>
                    <a:pt x="675359" y="313265"/>
                  </a:lnTo>
                  <a:lnTo>
                    <a:pt x="676275" y="338137"/>
                  </a:lnTo>
                  <a:close/>
                </a:path>
              </a:pathLst>
            </a:custGeom>
            <a:ln w="28575">
              <a:solidFill>
                <a:srgbClr val="B994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315325" y="421005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323850" y="323850"/>
                  </a:moveTo>
                  <a:lnTo>
                    <a:pt x="0" y="323850"/>
                  </a:lnTo>
                  <a:lnTo>
                    <a:pt x="0" y="0"/>
                  </a:lnTo>
                  <a:lnTo>
                    <a:pt x="323850" y="0"/>
                  </a:lnTo>
                  <a:lnTo>
                    <a:pt x="323850" y="323850"/>
                  </a:lnTo>
                  <a:close/>
                </a:path>
              </a:pathLst>
            </a:custGeom>
            <a:solidFill>
              <a:srgbClr val="B994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44500" y="4698329"/>
            <a:ext cx="2753995" cy="1168400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Impact</a:t>
            </a:r>
            <a:r>
              <a:rPr dirty="0" sz="1900" spc="6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DE9E1"/>
                </a:solidFill>
                <a:latin typeface="Arial"/>
                <a:cs typeface="Arial"/>
              </a:rPr>
              <a:t>tiers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93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Impact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D6D4CC"/>
                </a:solidFill>
                <a:latin typeface="Arial"/>
                <a:cs typeface="Arial"/>
              </a:rPr>
              <a:t>runs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4">
                <a:solidFill>
                  <a:srgbClr val="D6D4CC"/>
                </a:solidFill>
                <a:latin typeface="Arial"/>
                <a:cs typeface="Arial"/>
              </a:rPr>
              <a:t>1–</a:t>
            </a:r>
            <a:r>
              <a:rPr dirty="0" sz="1700" spc="-145">
                <a:solidFill>
                  <a:srgbClr val="D6D4CC"/>
                </a:solidFill>
                <a:latin typeface="Arial"/>
                <a:cs typeface="Arial"/>
              </a:rPr>
              <a:t>10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across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Low,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Medium,</a:t>
            </a:r>
            <a:r>
              <a:rPr dirty="0" sz="17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High,</a:t>
            </a:r>
            <a:r>
              <a:rPr dirty="0" sz="17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Severe.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6000" y="4698329"/>
            <a:ext cx="3352800" cy="1168400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Portfolio</a:t>
            </a:r>
            <a:r>
              <a:rPr dirty="0" sz="1900" spc="7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30">
                <a:solidFill>
                  <a:srgbClr val="EDE9E1"/>
                </a:solidFill>
                <a:latin typeface="Arial"/>
                <a:cs typeface="Arial"/>
              </a:rPr>
              <a:t>stress</a:t>
            </a:r>
            <a:r>
              <a:rPr dirty="0" sz="1900" spc="7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35">
                <a:solidFill>
                  <a:srgbClr val="EDE9E1"/>
                </a:solidFill>
                <a:latin typeface="Arial"/>
                <a:cs typeface="Arial"/>
              </a:rPr>
              <a:t>test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93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Module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B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turns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a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severe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signal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into </a:t>
            </a:r>
            <a:r>
              <a:rPr dirty="0" sz="1700" spc="45">
                <a:solidFill>
                  <a:srgbClr val="D6D4CC"/>
                </a:solidFill>
                <a:latin typeface="Arial"/>
                <a:cs typeface="Arial"/>
              </a:rPr>
              <a:t>portfolio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impact.</a:t>
            </a:r>
            <a:endParaRPr sz="1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15250" y="4698329"/>
            <a:ext cx="2959100" cy="1168400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 spc="-65">
                <a:solidFill>
                  <a:srgbClr val="EDE9E1"/>
                </a:solidFill>
                <a:latin typeface="Arial"/>
                <a:cs typeface="Arial"/>
              </a:rPr>
              <a:t>Review</a:t>
            </a:r>
            <a:r>
              <a:rPr dirty="0" sz="1900" spc="-4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modules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935"/>
              </a:spcBef>
            </a:pP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Signal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feed,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NLP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D6D4CC"/>
                </a:solidFill>
                <a:latin typeface="Arial"/>
                <a:cs typeface="Arial"/>
              </a:rPr>
              <a:t>sandbox,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and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dashboard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results.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4975"/>
            <a:ext cx="2085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0">
                <a:solidFill>
                  <a:srgbClr val="B99456"/>
                </a:solidFill>
                <a:latin typeface="SimSun-ExtB"/>
                <a:cs typeface="SimSun-ExtB"/>
              </a:rPr>
              <a:t>ONE</a:t>
            </a:r>
            <a:r>
              <a:rPr dirty="0" sz="1200" spc="300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B99456"/>
                </a:solidFill>
                <a:latin typeface="SimSun-ExtB"/>
                <a:cs typeface="SimSun-ExtB"/>
              </a:rPr>
              <a:t>CONNECTED</a:t>
            </a:r>
            <a:r>
              <a:rPr dirty="0" sz="1200" spc="310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B99456"/>
                </a:solidFill>
                <a:latin typeface="SimSun-ExtB"/>
                <a:cs typeface="SimSun-ExtB"/>
              </a:rPr>
              <a:t>WORKFLOW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15950"/>
            <a:ext cx="921194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125"/>
              <a:t>The</a:t>
            </a:r>
            <a:r>
              <a:rPr dirty="0" sz="3300" spc="-275"/>
              <a:t> </a:t>
            </a:r>
            <a:r>
              <a:rPr dirty="0" sz="3300" spc="185"/>
              <a:t>decision</a:t>
            </a:r>
            <a:r>
              <a:rPr dirty="0" sz="3300" spc="-280"/>
              <a:t> </a:t>
            </a:r>
            <a:r>
              <a:rPr dirty="0" sz="3300" spc="185"/>
              <a:t>path</a:t>
            </a:r>
            <a:r>
              <a:rPr dirty="0" sz="3300" spc="-275"/>
              <a:t> </a:t>
            </a:r>
            <a:r>
              <a:rPr dirty="0" sz="3300" spc="165"/>
              <a:t>is</a:t>
            </a:r>
            <a:r>
              <a:rPr dirty="0" sz="3300" spc="-275"/>
              <a:t> </a:t>
            </a:r>
            <a:r>
              <a:rPr dirty="0" sz="3300" spc="275"/>
              <a:t>one</a:t>
            </a:r>
            <a:r>
              <a:rPr dirty="0" sz="3300" spc="-270"/>
              <a:t> </a:t>
            </a:r>
            <a:r>
              <a:rPr dirty="0" sz="3300" spc="250"/>
              <a:t>connected</a:t>
            </a:r>
            <a:r>
              <a:rPr dirty="0" sz="3300" spc="-280"/>
              <a:t> </a:t>
            </a:r>
            <a:r>
              <a:rPr dirty="0" sz="3300" spc="75"/>
              <a:t>workflow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444500" y="1245823"/>
            <a:ext cx="10415270" cy="74231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140"/>
              </a:spcBef>
            </a:pPr>
            <a:r>
              <a:rPr dirty="0" sz="2000" spc="-50">
                <a:solidFill>
                  <a:srgbClr val="D6D4CC"/>
                </a:solidFill>
                <a:latin typeface="Arial"/>
                <a:cs typeface="Arial"/>
              </a:rPr>
              <a:t>News</a:t>
            </a:r>
            <a:r>
              <a:rPr dirty="0" sz="2000" spc="-8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Input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250" spc="-165">
                <a:solidFill>
                  <a:srgbClr val="D6D4CC"/>
                </a:solidFill>
                <a:latin typeface="Arial"/>
                <a:cs typeface="Arial"/>
              </a:rPr>
              <a:t>→</a:t>
            </a:r>
            <a:r>
              <a:rPr dirty="0" sz="2250" spc="-2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D6D4CC"/>
                </a:solidFill>
                <a:latin typeface="Arial"/>
                <a:cs typeface="Arial"/>
              </a:rPr>
              <a:t>Text</a:t>
            </a:r>
            <a:r>
              <a:rPr dirty="0" sz="20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D6D4CC"/>
                </a:solidFill>
                <a:latin typeface="Arial"/>
                <a:cs typeface="Arial"/>
              </a:rPr>
              <a:t>Analysis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250" spc="-165">
                <a:solidFill>
                  <a:srgbClr val="D6D4CC"/>
                </a:solidFill>
                <a:latin typeface="Arial"/>
                <a:cs typeface="Arial"/>
              </a:rPr>
              <a:t>→</a:t>
            </a:r>
            <a:r>
              <a:rPr dirty="0" sz="2250" spc="-2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Event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Classification</a:t>
            </a:r>
            <a:r>
              <a:rPr dirty="0" sz="20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250" spc="-165">
                <a:solidFill>
                  <a:srgbClr val="D6D4CC"/>
                </a:solidFill>
                <a:latin typeface="Arial"/>
                <a:cs typeface="Arial"/>
              </a:rPr>
              <a:t>→</a:t>
            </a:r>
            <a:r>
              <a:rPr dirty="0" sz="2250" spc="-2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D6D4CC"/>
                </a:solidFill>
                <a:latin typeface="Arial"/>
                <a:cs typeface="Arial"/>
              </a:rPr>
              <a:t>Risk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D6D4CC"/>
                </a:solidFill>
                <a:latin typeface="Arial"/>
                <a:cs typeface="Arial"/>
              </a:rPr>
              <a:t>Score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250" spc="-165">
                <a:solidFill>
                  <a:srgbClr val="D6D4CC"/>
                </a:solidFill>
                <a:latin typeface="Arial"/>
                <a:cs typeface="Arial"/>
              </a:rPr>
              <a:t>→</a:t>
            </a:r>
            <a:r>
              <a:rPr dirty="0" sz="2250" spc="-254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D6D4CC"/>
                </a:solidFill>
                <a:latin typeface="Arial"/>
                <a:cs typeface="Arial"/>
              </a:rPr>
              <a:t>Stress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D6D4CC"/>
                </a:solidFill>
                <a:latin typeface="Arial"/>
                <a:cs typeface="Arial"/>
              </a:rPr>
              <a:t>Testing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250" spc="-165">
                <a:solidFill>
                  <a:srgbClr val="D6D4CC"/>
                </a:solidFill>
                <a:latin typeface="Arial"/>
                <a:cs typeface="Arial"/>
              </a:rPr>
              <a:t>→</a:t>
            </a:r>
            <a:r>
              <a:rPr dirty="0" sz="2250" spc="-254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D6D4CC"/>
                </a:solidFill>
                <a:latin typeface="Arial"/>
                <a:cs typeface="Arial"/>
              </a:rPr>
              <a:t>Results Dashboard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5238750"/>
            <a:ext cx="5486400" cy="1162050"/>
          </a:xfrm>
          <a:prstGeom prst="rect">
            <a:avLst/>
          </a:prstGeom>
          <a:solidFill>
            <a:srgbClr val="252629"/>
          </a:solidFill>
        </p:spPr>
        <p:txBody>
          <a:bodyPr wrap="square" lIns="0" tIns="21590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70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High-impact</a:t>
            </a:r>
            <a:r>
              <a:rPr dirty="0" sz="1900" spc="34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DE9E1"/>
                </a:solidFill>
                <a:latin typeface="Arial"/>
                <a:cs typeface="Arial"/>
              </a:rPr>
              <a:t>gate</a:t>
            </a:r>
            <a:endParaRPr sz="19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114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Impact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Score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Open Sans"/>
                <a:cs typeface="Open Sans"/>
              </a:rPr>
              <a:t>≥</a:t>
            </a:r>
            <a:r>
              <a:rPr dirty="0" sz="1700" spc="-10">
                <a:solidFill>
                  <a:srgbClr val="D6D4CC"/>
                </a:solidFill>
                <a:latin typeface="Open Sans"/>
                <a:cs typeface="Open Sans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7.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8400" y="5238750"/>
            <a:ext cx="5486400" cy="1162050"/>
          </a:xfrm>
          <a:prstGeom prst="rect">
            <a:avLst/>
          </a:prstGeom>
          <a:solidFill>
            <a:srgbClr val="15171B"/>
          </a:solidFill>
        </p:spPr>
        <p:txBody>
          <a:bodyPr wrap="square" lIns="0" tIns="21590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700"/>
              </a:spcBef>
            </a:pPr>
            <a:r>
              <a:rPr dirty="0" sz="1900">
                <a:solidFill>
                  <a:srgbClr val="D6D4CC"/>
                </a:solidFill>
                <a:latin typeface="Arial"/>
                <a:cs typeface="Arial"/>
              </a:rPr>
              <a:t>Structured</a:t>
            </a:r>
            <a:r>
              <a:rPr dirty="0" sz="1900" spc="12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D6D4CC"/>
                </a:solidFill>
                <a:latin typeface="Arial"/>
                <a:cs typeface="Arial"/>
              </a:rPr>
              <a:t>handoff</a:t>
            </a:r>
            <a:endParaRPr sz="19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1145"/>
              </a:spcBef>
            </a:pP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Each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stage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leaves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a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structured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 signal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55">
                <a:solidFill>
                  <a:srgbClr val="D6D4CC"/>
                </a:solidFill>
                <a:latin typeface="Arial"/>
                <a:cs typeface="Arial"/>
              </a:rPr>
              <a:t>for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the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next.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8100" cy="6858000"/>
          </a:xfrm>
          <a:custGeom>
            <a:avLst/>
            <a:gdLst/>
            <a:ahLst/>
            <a:cxnLst/>
            <a:rect l="l" t="t" r="r" b="b"/>
            <a:pathLst>
              <a:path w="38100" h="6858000">
                <a:moveTo>
                  <a:pt x="381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8100" y="0"/>
                </a:lnTo>
                <a:lnTo>
                  <a:pt x="38100" y="6858000"/>
                </a:lnTo>
                <a:close/>
              </a:path>
            </a:pathLst>
          </a:custGeom>
          <a:solidFill>
            <a:srgbClr val="E38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2200" y="511175"/>
            <a:ext cx="2085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0">
                <a:solidFill>
                  <a:srgbClr val="B99456"/>
                </a:solidFill>
                <a:latin typeface="SimSun-ExtB"/>
                <a:cs typeface="SimSun-ExtB"/>
              </a:rPr>
              <a:t>PROTOTYPE</a:t>
            </a:r>
            <a:r>
              <a:rPr dirty="0" sz="1200" spc="31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B99456"/>
                </a:solidFill>
                <a:latin typeface="SimSun-ExtB"/>
                <a:cs typeface="SimSun-ExtB"/>
              </a:rPr>
              <a:t>ARCHITECTURE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2200" y="692150"/>
            <a:ext cx="3851275" cy="1852295"/>
          </a:xfrm>
          <a:prstGeom prst="rect"/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ct val="87800"/>
              </a:lnSpc>
              <a:spcBef>
                <a:spcPts val="580"/>
              </a:spcBef>
            </a:pPr>
            <a:r>
              <a:rPr dirty="0" sz="3300" spc="135"/>
              <a:t>A</a:t>
            </a:r>
            <a:r>
              <a:rPr dirty="0" sz="3300" spc="-290"/>
              <a:t> </a:t>
            </a:r>
            <a:r>
              <a:rPr dirty="0" sz="3300" spc="85"/>
              <a:t>lightweight</a:t>
            </a:r>
            <a:r>
              <a:rPr dirty="0" sz="3300" spc="-280"/>
              <a:t> </a:t>
            </a:r>
            <a:r>
              <a:rPr dirty="0" sz="3300" spc="220"/>
              <a:t>stack </a:t>
            </a:r>
            <a:r>
              <a:rPr dirty="0" sz="3300" spc="235"/>
              <a:t>keeps</a:t>
            </a:r>
            <a:r>
              <a:rPr dirty="0" sz="3300" spc="-290"/>
              <a:t> </a:t>
            </a:r>
            <a:r>
              <a:rPr dirty="0" sz="3300" spc="180"/>
              <a:t>the </a:t>
            </a:r>
            <a:r>
              <a:rPr dirty="0" sz="3300" spc="160"/>
              <a:t>prototype </a:t>
            </a:r>
            <a:r>
              <a:rPr dirty="0" sz="3300" spc="90"/>
              <a:t>explainable</a:t>
            </a:r>
            <a:endParaRPr sz="3300"/>
          </a:p>
        </p:txBody>
      </p:sp>
      <p:sp>
        <p:nvSpPr>
          <p:cNvPr id="5" name="object 5"/>
          <p:cNvSpPr txBox="1"/>
          <p:nvPr/>
        </p:nvSpPr>
        <p:spPr>
          <a:xfrm>
            <a:off x="622200" y="5610212"/>
            <a:ext cx="3815715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2000" spc="-60">
                <a:solidFill>
                  <a:srgbClr val="D6D4CC"/>
                </a:solidFill>
                <a:latin typeface="Arial"/>
                <a:cs typeface="Arial"/>
              </a:rPr>
              <a:t>Feeds</a:t>
            </a:r>
            <a:r>
              <a:rPr dirty="0" sz="2000" spc="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become</a:t>
            </a:r>
            <a:r>
              <a:rPr dirty="0" sz="2000" spc="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structured</a:t>
            </a:r>
            <a:r>
              <a:rPr dirty="0" sz="2000" spc="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D6D4CC"/>
                </a:solidFill>
                <a:latin typeface="Arial"/>
                <a:cs typeface="Arial"/>
              </a:rPr>
              <a:t>signals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through</a:t>
            </a:r>
            <a:r>
              <a:rPr dirty="0" sz="20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a</a:t>
            </a:r>
            <a:r>
              <a:rPr dirty="0" sz="20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D6D4CC"/>
                </a:solidFill>
                <a:latin typeface="Arial"/>
                <a:cs typeface="Arial"/>
              </a:rPr>
              <a:t>small,</a:t>
            </a:r>
            <a:r>
              <a:rPr dirty="0" sz="2000" spc="-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D6D4CC"/>
                </a:solidFill>
                <a:latin typeface="Arial"/>
                <a:cs typeface="Arial"/>
              </a:rPr>
              <a:t>inspectable</a:t>
            </a:r>
            <a:r>
              <a:rPr dirty="0" sz="20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D6D4CC"/>
                </a:solidFill>
                <a:latin typeface="Arial"/>
                <a:cs typeface="Arial"/>
              </a:rPr>
              <a:t>path.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76825" y="0"/>
            <a:ext cx="7115175" cy="6858000"/>
            <a:chOff x="5076825" y="0"/>
            <a:chExt cx="7115175" cy="6858000"/>
          </a:xfrm>
        </p:grpSpPr>
        <p:sp>
          <p:nvSpPr>
            <p:cNvPr id="7" name="object 7"/>
            <p:cNvSpPr/>
            <p:nvPr/>
          </p:nvSpPr>
          <p:spPr>
            <a:xfrm>
              <a:off x="5076825" y="0"/>
              <a:ext cx="7115175" cy="6858000"/>
            </a:xfrm>
            <a:custGeom>
              <a:avLst/>
              <a:gdLst/>
              <a:ahLst/>
              <a:cxnLst/>
              <a:rect l="l" t="t" r="r" b="b"/>
              <a:pathLst>
                <a:path w="7115175" h="6858000">
                  <a:moveTo>
                    <a:pt x="7115175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7115175" y="0"/>
                  </a:lnTo>
                  <a:lnTo>
                    <a:pt x="7115175" y="6858000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6825" y="0"/>
              <a:ext cx="7115175" cy="46100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2200" y="482600"/>
            <a:ext cx="5266055" cy="115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dirty="0" sz="1200" spc="120">
                <a:solidFill>
                  <a:srgbClr val="B99456"/>
                </a:solidFill>
                <a:latin typeface="SimSun-ExtB"/>
                <a:cs typeface="SimSun-ExtB"/>
              </a:rPr>
              <a:t>SYNTHETIC</a:t>
            </a:r>
            <a:r>
              <a:rPr dirty="0" sz="1200" spc="300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B99456"/>
                </a:solidFill>
                <a:latin typeface="SimSun-ExtB"/>
                <a:cs typeface="SimSun-ExtB"/>
              </a:rPr>
              <a:t>STRESS</a:t>
            </a:r>
            <a:r>
              <a:rPr dirty="0" sz="1200" spc="310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B99456"/>
                </a:solidFill>
                <a:latin typeface="SimSun-ExtB"/>
                <a:cs typeface="SimSun-ExtB"/>
              </a:rPr>
              <a:t>SCENARIO</a:t>
            </a:r>
            <a:endParaRPr sz="1200">
              <a:latin typeface="SimSun-ExtB"/>
              <a:cs typeface="SimSun-ExtB"/>
            </a:endParaRPr>
          </a:p>
          <a:p>
            <a:pPr marL="12700" marR="5080">
              <a:lnSpc>
                <a:spcPts val="3529"/>
              </a:lnSpc>
              <a:spcBef>
                <a:spcPts val="465"/>
              </a:spcBef>
            </a:pPr>
            <a:r>
              <a:rPr dirty="0" sz="3300" spc="135">
                <a:solidFill>
                  <a:srgbClr val="EDE9E1"/>
                </a:solidFill>
                <a:latin typeface="Trebuchet MS"/>
                <a:cs typeface="Trebuchet MS"/>
              </a:rPr>
              <a:t>A</a:t>
            </a:r>
            <a:r>
              <a:rPr dirty="0" sz="3300" spc="-27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204">
                <a:solidFill>
                  <a:srgbClr val="EDE9E1"/>
                </a:solidFill>
                <a:latin typeface="Trebuchet MS"/>
                <a:cs typeface="Trebuchet MS"/>
              </a:rPr>
              <a:t>severe</a:t>
            </a:r>
            <a:r>
              <a:rPr dirty="0" sz="3300" spc="-270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140">
                <a:solidFill>
                  <a:srgbClr val="EDE9E1"/>
                </a:solidFill>
                <a:latin typeface="Trebuchet MS"/>
                <a:cs typeface="Trebuchet MS"/>
              </a:rPr>
              <a:t>signal</a:t>
            </a:r>
            <a:r>
              <a:rPr dirty="0" sz="3300" spc="-280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215">
                <a:solidFill>
                  <a:srgbClr val="EDE9E1"/>
                </a:solidFill>
                <a:latin typeface="Trebuchet MS"/>
                <a:cs typeface="Trebuchet MS"/>
              </a:rPr>
              <a:t>makes</a:t>
            </a:r>
            <a:r>
              <a:rPr dirty="0" sz="3300" spc="-27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180">
                <a:solidFill>
                  <a:srgbClr val="EDE9E1"/>
                </a:solidFill>
                <a:latin typeface="Trebuchet MS"/>
                <a:cs typeface="Trebuchet MS"/>
              </a:rPr>
              <a:t>the </a:t>
            </a:r>
            <a:r>
              <a:rPr dirty="0" sz="3300" spc="110">
                <a:solidFill>
                  <a:srgbClr val="EDE9E1"/>
                </a:solidFill>
                <a:latin typeface="Trebuchet MS"/>
                <a:cs typeface="Trebuchet MS"/>
              </a:rPr>
              <a:t>portfolio</a:t>
            </a:r>
            <a:r>
              <a:rPr dirty="0" sz="3300" spc="-27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155">
                <a:solidFill>
                  <a:srgbClr val="EDE9E1"/>
                </a:solidFill>
                <a:latin typeface="Trebuchet MS"/>
                <a:cs typeface="Trebuchet MS"/>
              </a:rPr>
              <a:t>impact</a:t>
            </a:r>
            <a:r>
              <a:rPr dirty="0" sz="3300" spc="-27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3300" spc="65">
                <a:solidFill>
                  <a:srgbClr val="EDE9E1"/>
                </a:solidFill>
                <a:latin typeface="Trebuchet MS"/>
                <a:cs typeface="Trebuchet MS"/>
              </a:rPr>
              <a:t>visible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200" y="2171763"/>
            <a:ext cx="49917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Regulatory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event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50">
                <a:solidFill>
                  <a:srgbClr val="D6D4CC"/>
                </a:solidFill>
                <a:latin typeface="Arial"/>
                <a:cs typeface="Arial"/>
              </a:rPr>
              <a:t>·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Impact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8/10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50">
                <a:solidFill>
                  <a:srgbClr val="D6D4CC"/>
                </a:solidFill>
                <a:latin typeface="Arial"/>
                <a:cs typeface="Arial"/>
              </a:rPr>
              <a:t>·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Module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B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activated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4755" y="2588116"/>
            <a:ext cx="13931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45">
                <a:solidFill>
                  <a:srgbClr val="D6D4CC"/>
                </a:solidFill>
                <a:latin typeface="Arial"/>
                <a:cs typeface="Arial"/>
              </a:rPr>
              <a:t>Portfolio</a:t>
            </a:r>
            <a:r>
              <a:rPr dirty="0" sz="13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6D4CC"/>
                </a:solidFill>
                <a:latin typeface="Arial"/>
                <a:cs typeface="Arial"/>
              </a:rPr>
              <a:t>value</a:t>
            </a:r>
            <a:r>
              <a:rPr dirty="0" sz="13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300" spc="35">
                <a:solidFill>
                  <a:srgbClr val="D6D4CC"/>
                </a:solidFill>
                <a:latin typeface="Arial"/>
                <a:cs typeface="Arial"/>
              </a:rPr>
              <a:t>($)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0501" y="2992875"/>
            <a:ext cx="2222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14">
                <a:solidFill>
                  <a:srgbClr val="D6D4CC"/>
                </a:solidFill>
                <a:latin typeface="Arial"/>
                <a:cs typeface="Arial"/>
              </a:rPr>
              <a:t>1m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3874" y="3102984"/>
            <a:ext cx="6484620" cy="1062990"/>
            <a:chOff x="773874" y="3102984"/>
            <a:chExt cx="6484620" cy="1062990"/>
          </a:xfrm>
        </p:grpSpPr>
        <p:sp>
          <p:nvSpPr>
            <p:cNvPr id="5" name="object 5"/>
            <p:cNvSpPr/>
            <p:nvPr/>
          </p:nvSpPr>
          <p:spPr>
            <a:xfrm>
              <a:off x="779906" y="4159605"/>
              <a:ext cx="6472555" cy="0"/>
            </a:xfrm>
            <a:custGeom>
              <a:avLst/>
              <a:gdLst/>
              <a:ahLst/>
              <a:cxnLst/>
              <a:rect l="l" t="t" r="r" b="b"/>
              <a:pathLst>
                <a:path w="6472555" h="0">
                  <a:moveTo>
                    <a:pt x="0" y="0"/>
                  </a:moveTo>
                  <a:lnTo>
                    <a:pt x="889958" y="0"/>
                  </a:lnTo>
                </a:path>
                <a:path w="6472555" h="0">
                  <a:moveTo>
                    <a:pt x="2346255" y="0"/>
                  </a:moveTo>
                  <a:lnTo>
                    <a:pt x="4126173" y="0"/>
                  </a:lnTo>
                </a:path>
                <a:path w="6472555" h="0">
                  <a:moveTo>
                    <a:pt x="5582469" y="0"/>
                  </a:moveTo>
                  <a:lnTo>
                    <a:pt x="6472428" y="0"/>
                  </a:lnTo>
                </a:path>
              </a:pathLst>
            </a:custGeom>
            <a:ln w="11811">
              <a:solidFill>
                <a:srgbClr val="3336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79906" y="3109017"/>
              <a:ext cx="6472555" cy="0"/>
            </a:xfrm>
            <a:custGeom>
              <a:avLst/>
              <a:gdLst/>
              <a:ahLst/>
              <a:cxnLst/>
              <a:rect l="l" t="t" r="r" b="b"/>
              <a:pathLst>
                <a:path w="6472555" h="0">
                  <a:moveTo>
                    <a:pt x="6472428" y="0"/>
                  </a:moveTo>
                  <a:lnTo>
                    <a:pt x="0" y="0"/>
                  </a:lnTo>
                </a:path>
              </a:pathLst>
            </a:custGeom>
            <a:ln w="11811">
              <a:solidFill>
                <a:srgbClr val="33363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310501" y="4043464"/>
            <a:ext cx="43116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65">
                <a:solidFill>
                  <a:srgbClr val="D6D4CC"/>
                </a:solidFill>
                <a:latin typeface="Arial"/>
                <a:cs typeface="Arial"/>
              </a:rPr>
              <a:t>500k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98014" y="5210194"/>
            <a:ext cx="0" cy="106680"/>
          </a:xfrm>
          <a:custGeom>
            <a:avLst/>
            <a:gdLst/>
            <a:ahLst/>
            <a:cxnLst/>
            <a:rect l="l" t="t" r="r" b="b"/>
            <a:pathLst>
              <a:path w="0" h="106679">
                <a:moveTo>
                  <a:pt x="0" y="0"/>
                </a:moveTo>
                <a:lnTo>
                  <a:pt x="0" y="106299"/>
                </a:lnTo>
              </a:path>
            </a:pathLst>
          </a:custGeom>
          <a:ln w="11811">
            <a:solidFill>
              <a:srgbClr val="3336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34227" y="5210194"/>
            <a:ext cx="0" cy="106680"/>
          </a:xfrm>
          <a:custGeom>
            <a:avLst/>
            <a:gdLst/>
            <a:ahLst/>
            <a:cxnLst/>
            <a:rect l="l" t="t" r="r" b="b"/>
            <a:pathLst>
              <a:path w="0" h="106679">
                <a:moveTo>
                  <a:pt x="0" y="0"/>
                </a:moveTo>
                <a:lnTo>
                  <a:pt x="0" y="106299"/>
                </a:lnTo>
              </a:path>
            </a:pathLst>
          </a:custGeom>
          <a:ln w="11811">
            <a:solidFill>
              <a:srgbClr val="33363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773874" y="2819520"/>
            <a:ext cx="6484620" cy="2397125"/>
            <a:chOff x="773874" y="2819520"/>
            <a:chExt cx="6484620" cy="2397125"/>
          </a:xfrm>
        </p:grpSpPr>
        <p:sp>
          <p:nvSpPr>
            <p:cNvPr id="17" name="object 17"/>
            <p:cNvSpPr/>
            <p:nvPr/>
          </p:nvSpPr>
          <p:spPr>
            <a:xfrm>
              <a:off x="779907" y="2825553"/>
              <a:ext cx="6472555" cy="2385060"/>
            </a:xfrm>
            <a:custGeom>
              <a:avLst/>
              <a:gdLst/>
              <a:ahLst/>
              <a:cxnLst/>
              <a:rect l="l" t="t" r="r" b="b"/>
              <a:pathLst>
                <a:path w="6472555" h="2385060">
                  <a:moveTo>
                    <a:pt x="0" y="0"/>
                  </a:moveTo>
                  <a:lnTo>
                    <a:pt x="6472428" y="0"/>
                  </a:lnTo>
                  <a:lnTo>
                    <a:pt x="6472428" y="2384640"/>
                  </a:lnTo>
                  <a:lnTo>
                    <a:pt x="0" y="2384640"/>
                  </a:lnTo>
                  <a:lnTo>
                    <a:pt x="0" y="0"/>
                  </a:lnTo>
                  <a:close/>
                </a:path>
              </a:pathLst>
            </a:custGeom>
            <a:ln w="11811">
              <a:solidFill>
                <a:srgbClr val="3336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69865" y="3109017"/>
              <a:ext cx="1456690" cy="2101215"/>
            </a:xfrm>
            <a:custGeom>
              <a:avLst/>
              <a:gdLst/>
              <a:ahLst/>
              <a:cxnLst/>
              <a:rect l="l" t="t" r="r" b="b"/>
              <a:pathLst>
                <a:path w="1456689" h="2101215">
                  <a:moveTo>
                    <a:pt x="1456296" y="2101176"/>
                  </a:moveTo>
                  <a:lnTo>
                    <a:pt x="0" y="2101176"/>
                  </a:lnTo>
                  <a:lnTo>
                    <a:pt x="0" y="0"/>
                  </a:lnTo>
                  <a:lnTo>
                    <a:pt x="1456296" y="0"/>
                  </a:lnTo>
                  <a:lnTo>
                    <a:pt x="1456296" y="2101176"/>
                  </a:lnTo>
                  <a:close/>
                </a:path>
              </a:pathLst>
            </a:custGeom>
            <a:solidFill>
              <a:srgbClr val="262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06080" y="3453610"/>
              <a:ext cx="1456690" cy="1757045"/>
            </a:xfrm>
            <a:custGeom>
              <a:avLst/>
              <a:gdLst/>
              <a:ahLst/>
              <a:cxnLst/>
              <a:rect l="l" t="t" r="r" b="b"/>
              <a:pathLst>
                <a:path w="1456689" h="1757045">
                  <a:moveTo>
                    <a:pt x="1456296" y="1756583"/>
                  </a:moveTo>
                  <a:lnTo>
                    <a:pt x="0" y="1756583"/>
                  </a:lnTo>
                  <a:lnTo>
                    <a:pt x="0" y="0"/>
                  </a:lnTo>
                  <a:lnTo>
                    <a:pt x="1456296" y="0"/>
                  </a:lnTo>
                  <a:lnTo>
                    <a:pt x="1456296" y="1756583"/>
                  </a:lnTo>
                  <a:close/>
                </a:path>
              </a:pathLst>
            </a:custGeom>
            <a:solidFill>
              <a:srgbClr val="2529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3283" y="3156076"/>
              <a:ext cx="212597" cy="21259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328716" y="3168298"/>
            <a:ext cx="15176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900" spc="-60">
                <a:solidFill>
                  <a:srgbClr val="FFFFFF"/>
                </a:solidFill>
                <a:latin typeface="Arial"/>
                <a:cs typeface="Arial"/>
              </a:rPr>
              <a:t>1m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64721" y="3500669"/>
            <a:ext cx="342900" cy="212725"/>
          </a:xfrm>
          <a:custGeom>
            <a:avLst/>
            <a:gdLst/>
            <a:ahLst/>
            <a:cxnLst/>
            <a:rect l="l" t="t" r="r" b="b"/>
            <a:pathLst>
              <a:path w="342900" h="212725">
                <a:moveTo>
                  <a:pt x="301949" y="212597"/>
                </a:moveTo>
                <a:lnTo>
                  <a:pt x="40569" y="212597"/>
                </a:lnTo>
                <a:lnTo>
                  <a:pt x="34603" y="211411"/>
                </a:lnTo>
                <a:lnTo>
                  <a:pt x="1186" y="177994"/>
                </a:lnTo>
                <a:lnTo>
                  <a:pt x="0" y="172028"/>
                </a:lnTo>
                <a:lnTo>
                  <a:pt x="0" y="165826"/>
                </a:lnTo>
                <a:lnTo>
                  <a:pt x="0" y="40569"/>
                </a:lnTo>
                <a:lnTo>
                  <a:pt x="23142" y="5933"/>
                </a:lnTo>
                <a:lnTo>
                  <a:pt x="40569" y="0"/>
                </a:lnTo>
                <a:lnTo>
                  <a:pt x="301949" y="0"/>
                </a:lnTo>
                <a:lnTo>
                  <a:pt x="336585" y="23142"/>
                </a:lnTo>
                <a:lnTo>
                  <a:pt x="342518" y="40569"/>
                </a:lnTo>
                <a:lnTo>
                  <a:pt x="342518" y="172028"/>
                </a:lnTo>
                <a:lnTo>
                  <a:pt x="319376" y="206664"/>
                </a:lnTo>
                <a:lnTo>
                  <a:pt x="307915" y="211411"/>
                </a:lnTo>
                <a:lnTo>
                  <a:pt x="301949" y="212597"/>
                </a:lnTo>
                <a:close/>
              </a:path>
            </a:pathLst>
          </a:custGeom>
          <a:solidFill>
            <a:srgbClr val="252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906079" y="3453610"/>
            <a:ext cx="1456690" cy="175704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900" spc="-20">
                <a:solidFill>
                  <a:srgbClr val="FFFFFF"/>
                </a:solidFill>
                <a:latin typeface="Arial"/>
                <a:cs typeface="Arial"/>
              </a:rPr>
              <a:t>836k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0501" y="5094052"/>
            <a:ext cx="1358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85">
                <a:solidFill>
                  <a:srgbClr val="D6D4CC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8262" y="5333368"/>
            <a:ext cx="81026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D6D4CC"/>
                </a:solidFill>
                <a:latin typeface="Arial"/>
                <a:cs typeface="Arial"/>
              </a:rPr>
              <a:t>Pre-</a:t>
            </a:r>
            <a:r>
              <a:rPr dirty="0" sz="1300" spc="-10">
                <a:solidFill>
                  <a:srgbClr val="D6D4CC"/>
                </a:solidFill>
                <a:latin typeface="Arial"/>
                <a:cs typeface="Arial"/>
              </a:rPr>
              <a:t>stress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2365" y="5333368"/>
            <a:ext cx="88836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D6D4CC"/>
                </a:solidFill>
                <a:latin typeface="Arial"/>
                <a:cs typeface="Arial"/>
              </a:rPr>
              <a:t>Post-</a:t>
            </a:r>
            <a:r>
              <a:rPr dirty="0" sz="1300" spc="-10">
                <a:solidFill>
                  <a:srgbClr val="D6D4CC"/>
                </a:solidFill>
                <a:latin typeface="Arial"/>
                <a:cs typeface="Arial"/>
              </a:rPr>
              <a:t>stress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8744" y="5616886"/>
            <a:ext cx="4749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D6D4CC"/>
                </a:solidFill>
                <a:latin typeface="Arial"/>
                <a:cs typeface="Arial"/>
              </a:rPr>
              <a:t>Stage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124825" y="0"/>
            <a:ext cx="4067175" cy="6858000"/>
            <a:chOff x="8124825" y="0"/>
            <a:chExt cx="4067175" cy="6858000"/>
          </a:xfrm>
        </p:grpSpPr>
        <p:sp>
          <p:nvSpPr>
            <p:cNvPr id="25" name="object 25"/>
            <p:cNvSpPr/>
            <p:nvPr/>
          </p:nvSpPr>
          <p:spPr>
            <a:xfrm>
              <a:off x="8124825" y="0"/>
              <a:ext cx="4067175" cy="6858000"/>
            </a:xfrm>
            <a:custGeom>
              <a:avLst/>
              <a:gdLst/>
              <a:ahLst/>
              <a:cxnLst/>
              <a:rect l="l" t="t" r="r" b="b"/>
              <a:pathLst>
                <a:path w="4067175" h="6858000">
                  <a:moveTo>
                    <a:pt x="4067175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4067175" y="0"/>
                  </a:lnTo>
                  <a:lnTo>
                    <a:pt x="4067175" y="6858000"/>
                  </a:lnTo>
                  <a:close/>
                </a:path>
              </a:pathLst>
            </a:custGeom>
            <a:solidFill>
              <a:srgbClr val="1517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124825" y="0"/>
              <a:ext cx="19050" cy="6858000"/>
            </a:xfrm>
            <a:custGeom>
              <a:avLst/>
              <a:gdLst/>
              <a:ahLst/>
              <a:cxnLst/>
              <a:rect l="l" t="t" r="r" b="b"/>
              <a:pathLst>
                <a:path w="19050" h="6858000">
                  <a:moveTo>
                    <a:pt x="1905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19050" y="0"/>
                  </a:lnTo>
                  <a:lnTo>
                    <a:pt x="19050" y="6858000"/>
                  </a:lnTo>
                  <a:close/>
                </a:path>
              </a:pathLst>
            </a:custGeom>
            <a:solidFill>
              <a:srgbClr val="E38A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464401" y="539750"/>
            <a:ext cx="1330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0">
                <a:solidFill>
                  <a:srgbClr val="D6D4CC"/>
                </a:solidFill>
                <a:latin typeface="SimSun-ExtB"/>
                <a:cs typeface="SimSun-ExtB"/>
              </a:rPr>
              <a:t>PORTFOLIO</a:t>
            </a:r>
            <a:r>
              <a:rPr dirty="0" sz="1200" spc="315">
                <a:solidFill>
                  <a:srgbClr val="D6D4CC"/>
                </a:solidFill>
                <a:latin typeface="SimSun-ExtB"/>
                <a:cs typeface="SimSun-ExtB"/>
              </a:rPr>
              <a:t> </a:t>
            </a:r>
            <a:r>
              <a:rPr dirty="0" sz="1200" spc="85">
                <a:solidFill>
                  <a:srgbClr val="D6D4CC"/>
                </a:solidFill>
                <a:latin typeface="SimSun-ExtB"/>
                <a:cs typeface="SimSun-ExtB"/>
              </a:rPr>
              <a:t>VIEW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8464401" y="666813"/>
            <a:ext cx="2406650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>
                <a:solidFill>
                  <a:srgbClr val="D6D4CC"/>
                </a:solidFill>
              </a:rPr>
              <a:t>$164,000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464401" y="1307612"/>
            <a:ext cx="2195830" cy="1615440"/>
          </a:xfrm>
          <a:prstGeom prst="rect">
            <a:avLst/>
          </a:prstGeom>
        </p:spPr>
        <p:txBody>
          <a:bodyPr wrap="square" lIns="0" tIns="231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dirty="0" sz="2500">
                <a:solidFill>
                  <a:srgbClr val="D6D4CC"/>
                </a:solidFill>
                <a:latin typeface="Arial"/>
                <a:cs typeface="Arial"/>
              </a:rPr>
              <a:t>Simulated</a:t>
            </a:r>
            <a:r>
              <a:rPr dirty="0" sz="2500" spc="-10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D6D4CC"/>
                </a:solidFill>
                <a:latin typeface="Arial"/>
                <a:cs typeface="Arial"/>
              </a:rPr>
              <a:t>loss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12100"/>
              </a:lnSpc>
              <a:spcBef>
                <a:spcPts val="930"/>
              </a:spcBef>
            </a:pP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Baseline: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$1,000,000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Post-</a:t>
            </a:r>
            <a:r>
              <a:rPr dirty="0" sz="1700" spc="-30">
                <a:solidFill>
                  <a:srgbClr val="D6D4CC"/>
                </a:solidFill>
                <a:latin typeface="Arial"/>
                <a:cs typeface="Arial"/>
              </a:rPr>
              <a:t>stress:</a:t>
            </a:r>
            <a:r>
              <a:rPr dirty="0" sz="1700" spc="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50">
                <a:solidFill>
                  <a:srgbClr val="D6D4CC"/>
                </a:solidFill>
                <a:latin typeface="Arial"/>
                <a:cs typeface="Arial"/>
              </a:rPr>
              <a:t>$836,000 </a:t>
            </a:r>
            <a:r>
              <a:rPr dirty="0" sz="1700" spc="-30">
                <a:solidFill>
                  <a:srgbClr val="D6D4CC"/>
                </a:solidFill>
                <a:latin typeface="Arial"/>
                <a:cs typeface="Arial"/>
              </a:rPr>
              <a:t>Drawdown: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160">
                <a:solidFill>
                  <a:srgbClr val="D6D4CC"/>
                </a:solidFill>
                <a:latin typeface="Arial"/>
                <a:cs typeface="Arial"/>
              </a:rPr>
              <a:t>-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16.4%</a:t>
            </a:r>
            <a:endParaRPr sz="1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64401" y="3046729"/>
            <a:ext cx="1802764" cy="62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1200" spc="120">
                <a:solidFill>
                  <a:srgbClr val="D6D4CC"/>
                </a:solidFill>
                <a:latin typeface="SimSun-ExtB"/>
                <a:cs typeface="SimSun-ExtB"/>
              </a:rPr>
              <a:t>ACADEMIC</a:t>
            </a:r>
            <a:r>
              <a:rPr dirty="0" sz="1200" spc="295">
                <a:solidFill>
                  <a:srgbClr val="D6D4CC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D6D4CC"/>
                </a:solidFill>
                <a:latin typeface="SimSun-ExtB"/>
                <a:cs typeface="SimSun-ExtB"/>
              </a:rPr>
              <a:t>BENCHMARK, CLIENT</a:t>
            </a:r>
            <a:r>
              <a:rPr dirty="0" sz="1200" spc="300">
                <a:solidFill>
                  <a:srgbClr val="D6D4CC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D6D4CC"/>
                </a:solidFill>
                <a:latin typeface="SimSun-ExtB"/>
                <a:cs typeface="SimSun-ExtB"/>
              </a:rPr>
              <a:t>POSITIONS</a:t>
            </a:r>
            <a:r>
              <a:rPr dirty="0" sz="1200" spc="310">
                <a:solidFill>
                  <a:srgbClr val="D6D4CC"/>
                </a:solidFill>
                <a:latin typeface="SimSun-ExtB"/>
                <a:cs typeface="SimSun-ExtB"/>
              </a:rPr>
              <a:t> </a:t>
            </a:r>
            <a:r>
              <a:rPr dirty="0" sz="1200" spc="35">
                <a:solidFill>
                  <a:srgbClr val="D6D4CC"/>
                </a:solidFill>
                <a:latin typeface="SimSun-ExtB"/>
                <a:cs typeface="SimSun-ExtB"/>
              </a:rPr>
              <a:t>OR </a:t>
            </a:r>
            <a:r>
              <a:rPr dirty="0" sz="1200" spc="110">
                <a:solidFill>
                  <a:srgbClr val="D6D4CC"/>
                </a:solidFill>
                <a:latin typeface="SimSun-ExtB"/>
                <a:cs typeface="SimSun-ExtB"/>
              </a:rPr>
              <a:t>ADVICE.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54164" y="3046729"/>
            <a:ext cx="952500" cy="425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200" spc="90">
                <a:solidFill>
                  <a:srgbClr val="D6D4CC"/>
                </a:solidFill>
                <a:latin typeface="SimSun-ExtB"/>
                <a:cs typeface="SimSun-ExtB"/>
              </a:rPr>
              <a:t>NOT</a:t>
            </a:r>
            <a:r>
              <a:rPr dirty="0" sz="1200" spc="295">
                <a:solidFill>
                  <a:srgbClr val="D6D4CC"/>
                </a:solidFill>
                <a:latin typeface="SimSun-ExtB"/>
                <a:cs typeface="SimSun-ExtB"/>
              </a:rPr>
              <a:t> </a:t>
            </a:r>
            <a:r>
              <a:rPr dirty="0" sz="1200" spc="85">
                <a:solidFill>
                  <a:srgbClr val="D6D4CC"/>
                </a:solidFill>
                <a:latin typeface="SimSun-ExtB"/>
                <a:cs typeface="SimSun-ExtB"/>
              </a:rPr>
              <a:t>LIVE</a:t>
            </a: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114">
                <a:solidFill>
                  <a:srgbClr val="D6D4CC"/>
                </a:solidFill>
                <a:latin typeface="SimSun-ExtB"/>
                <a:cs typeface="SimSun-ExtB"/>
              </a:rPr>
              <a:t>INVESTMENT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4975"/>
            <a:ext cx="18027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5">
                <a:solidFill>
                  <a:srgbClr val="B99456"/>
                </a:solidFill>
                <a:latin typeface="SimSun-ExtB"/>
                <a:cs typeface="SimSun-ExtB"/>
              </a:rPr>
              <a:t>REPOSITORY</a:t>
            </a:r>
            <a:r>
              <a:rPr dirty="0" sz="1200" spc="29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B99456"/>
                </a:solidFill>
                <a:latin typeface="SimSun-ExtB"/>
                <a:cs typeface="SimSun-ExtB"/>
              </a:rPr>
              <a:t>EVIDENCE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15950"/>
            <a:ext cx="1052703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160"/>
              <a:t>Repository</a:t>
            </a:r>
            <a:r>
              <a:rPr dirty="0" sz="3300" spc="-254"/>
              <a:t> </a:t>
            </a:r>
            <a:r>
              <a:rPr dirty="0" sz="3300" spc="185"/>
              <a:t>evidence</a:t>
            </a:r>
            <a:r>
              <a:rPr dirty="0" sz="3300" spc="-254"/>
              <a:t> </a:t>
            </a:r>
            <a:r>
              <a:rPr dirty="0" sz="3300" spc="285"/>
              <a:t>shows</a:t>
            </a:r>
            <a:r>
              <a:rPr dirty="0" sz="3300" spc="-260"/>
              <a:t> </a:t>
            </a:r>
            <a:r>
              <a:rPr dirty="0" sz="3300" spc="204"/>
              <a:t>the</a:t>
            </a:r>
            <a:r>
              <a:rPr dirty="0" sz="3300" spc="-254"/>
              <a:t> </a:t>
            </a:r>
            <a:r>
              <a:rPr dirty="0" sz="3300" spc="225"/>
              <a:t>dashboard</a:t>
            </a:r>
            <a:r>
              <a:rPr dirty="0" sz="3300" spc="-260"/>
              <a:t> </a:t>
            </a:r>
            <a:r>
              <a:rPr dirty="0" sz="3300"/>
              <a:t>in</a:t>
            </a:r>
            <a:r>
              <a:rPr dirty="0" sz="3300" spc="-254"/>
              <a:t> </a:t>
            </a:r>
            <a:r>
              <a:rPr dirty="0" sz="3300" spc="165"/>
              <a:t>action</a:t>
            </a:r>
            <a:endParaRPr sz="33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552575"/>
            <a:ext cx="5724525" cy="3200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9975" y="2924175"/>
            <a:ext cx="1743075" cy="466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2650" y="2886075"/>
            <a:ext cx="1733549" cy="533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3100" y="4806950"/>
            <a:ext cx="5299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0">
                <a:solidFill>
                  <a:srgbClr val="A8ABB3"/>
                </a:solidFill>
                <a:latin typeface="SimSun-ExtB"/>
                <a:cs typeface="SimSun-ExtB"/>
              </a:rPr>
              <a:t>EXECUTIVE</a:t>
            </a:r>
            <a:r>
              <a:rPr dirty="0" sz="1200" spc="29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A8ABB3"/>
                </a:solidFill>
                <a:latin typeface="SimSun-ExtB"/>
                <a:cs typeface="SimSun-ExtB"/>
              </a:rPr>
              <a:t>DASHBOARD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-600">
                <a:solidFill>
                  <a:srgbClr val="A8ABB3"/>
                </a:solidFill>
                <a:latin typeface="SimSun-ExtB"/>
                <a:cs typeface="SimSun-ExtB"/>
              </a:rPr>
              <a:t>·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A8ABB3"/>
                </a:solidFill>
                <a:latin typeface="SimSun-ExtB"/>
                <a:cs typeface="SimSun-ExtB"/>
              </a:rPr>
              <a:t>SIGNALS,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A8ABB3"/>
                </a:solidFill>
                <a:latin typeface="SimSun-ExtB"/>
                <a:cs typeface="SimSun-ExtB"/>
              </a:rPr>
              <a:t>GATE,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25">
                <a:solidFill>
                  <a:srgbClr val="A8ABB3"/>
                </a:solidFill>
                <a:latin typeface="SimSun-ExtB"/>
                <a:cs typeface="SimSun-ExtB"/>
              </a:rPr>
              <a:t>SENTIMENT,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A8ABB3"/>
                </a:solidFill>
                <a:latin typeface="SimSun-ExtB"/>
                <a:cs typeface="SimSun-ExtB"/>
              </a:rPr>
              <a:t>EXPOSURE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9209" y="4806950"/>
            <a:ext cx="3677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9025" algn="l"/>
              </a:tabLst>
            </a:pPr>
            <a:r>
              <a:rPr dirty="0" sz="1200" spc="120">
                <a:solidFill>
                  <a:srgbClr val="A8ABB3"/>
                </a:solidFill>
                <a:latin typeface="SimSun-ExtB"/>
                <a:cs typeface="SimSun-ExtB"/>
              </a:rPr>
              <a:t>SENTIMENT</a:t>
            </a:r>
            <a:r>
              <a:rPr dirty="0" sz="1200" spc="31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A8ABB3"/>
                </a:solidFill>
                <a:latin typeface="SimSun-ExtB"/>
                <a:cs typeface="SimSun-ExtB"/>
              </a:rPr>
              <a:t>GAUGE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	</a:t>
            </a:r>
            <a:r>
              <a:rPr dirty="0" sz="1200" spc="114">
                <a:solidFill>
                  <a:srgbClr val="A8ABB3"/>
                </a:solidFill>
                <a:latin typeface="SimSun-ExtB"/>
                <a:cs typeface="SimSun-ExtB"/>
              </a:rPr>
              <a:t>STRESS</a:t>
            </a:r>
            <a:r>
              <a:rPr dirty="0" sz="1200" spc="29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A8ABB3"/>
                </a:solidFill>
                <a:latin typeface="SimSun-ExtB"/>
                <a:cs typeface="SimSun-ExtB"/>
              </a:rPr>
              <a:t>HEATMAP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500" y="5212679"/>
            <a:ext cx="3145155" cy="117792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Executive</a:t>
            </a:r>
            <a:r>
              <a:rPr dirty="0" sz="1900" spc="-12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DE9E1"/>
                </a:solidFill>
                <a:latin typeface="Arial"/>
                <a:cs typeface="Arial"/>
              </a:rPr>
              <a:t>view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3999"/>
              </a:lnSpc>
              <a:spcBef>
                <a:spcPts val="860"/>
              </a:spcBef>
            </a:pP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Signal</a:t>
            </a:r>
            <a:r>
              <a:rPr dirty="0" sz="1700" spc="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count,</a:t>
            </a:r>
            <a:r>
              <a:rPr dirty="0" sz="1700" spc="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high-impact</a:t>
            </a:r>
            <a:r>
              <a:rPr dirty="0" sz="1700" spc="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gate,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market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sentiment,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exposure.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5101" y="5212679"/>
            <a:ext cx="3441700" cy="117792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 spc="-25">
                <a:solidFill>
                  <a:srgbClr val="EDE9E1"/>
                </a:solidFill>
                <a:latin typeface="Arial"/>
                <a:cs typeface="Arial"/>
              </a:rPr>
              <a:t>Signal</a:t>
            </a:r>
            <a:r>
              <a:rPr dirty="0" sz="1900" spc="-10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stream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3999"/>
              </a:lnSpc>
              <a:spcBef>
                <a:spcPts val="860"/>
              </a:spcBef>
            </a:pPr>
            <a:r>
              <a:rPr dirty="0" sz="1700" spc="-30">
                <a:solidFill>
                  <a:srgbClr val="D6D4CC"/>
                </a:solidFill>
                <a:latin typeface="Arial"/>
                <a:cs typeface="Arial"/>
              </a:rPr>
              <a:t>Company,</a:t>
            </a:r>
            <a:r>
              <a:rPr dirty="0" sz="1700" spc="-8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source,</a:t>
            </a:r>
            <a:r>
              <a:rPr dirty="0" sz="1700" spc="-8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event,</a:t>
            </a:r>
            <a:r>
              <a:rPr dirty="0" sz="1700" spc="-8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sentiment,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impact,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3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action.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6000" y="5212679"/>
            <a:ext cx="2975610" cy="117792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Module</a:t>
            </a:r>
            <a:r>
              <a:rPr dirty="0" sz="1900" spc="-4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EDE9E1"/>
                </a:solidFill>
                <a:latin typeface="Arial"/>
                <a:cs typeface="Arial"/>
              </a:rPr>
              <a:t>B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3999"/>
              </a:lnSpc>
              <a:spcBef>
                <a:spcPts val="860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Pre-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stress,</a:t>
            </a:r>
            <a:r>
              <a:rPr dirty="0" sz="1700" spc="1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stressed</a:t>
            </a:r>
            <a:r>
              <a:rPr dirty="0" sz="1700" spc="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value,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drawdown,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applied</a:t>
            </a:r>
            <a:r>
              <a:rPr dirty="0" sz="1700" spc="-7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shocks.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4975"/>
            <a:ext cx="1991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5">
                <a:solidFill>
                  <a:srgbClr val="B99456"/>
                </a:solidFill>
                <a:latin typeface="SimSun-ExtB"/>
                <a:cs typeface="SimSun-ExtB"/>
              </a:rPr>
              <a:t>VALIDATION</a:t>
            </a:r>
            <a:r>
              <a:rPr dirty="0" sz="1200" spc="28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B99456"/>
                </a:solidFill>
                <a:latin typeface="SimSun-ExtB"/>
                <a:cs typeface="SimSun-ExtB"/>
              </a:rPr>
              <a:t>AND</a:t>
            </a:r>
            <a:r>
              <a:rPr dirty="0" sz="1200" spc="29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05">
                <a:solidFill>
                  <a:srgbClr val="B99456"/>
                </a:solidFill>
                <a:latin typeface="SimSun-ExtB"/>
                <a:cs typeface="SimSun-ExtB"/>
              </a:rPr>
              <a:t>LIMITS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15950"/>
            <a:ext cx="10893425" cy="966469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640"/>
              </a:spcBef>
            </a:pPr>
            <a:r>
              <a:rPr dirty="0" sz="3300" spc="125"/>
              <a:t>The</a:t>
            </a:r>
            <a:r>
              <a:rPr dirty="0" sz="3300" spc="-275"/>
              <a:t> </a:t>
            </a:r>
            <a:r>
              <a:rPr dirty="0" sz="3300" spc="170"/>
              <a:t>prototype</a:t>
            </a:r>
            <a:r>
              <a:rPr dirty="0" sz="3300" spc="-275"/>
              <a:t> </a:t>
            </a:r>
            <a:r>
              <a:rPr dirty="0" sz="3300" spc="165"/>
              <a:t>is</a:t>
            </a:r>
            <a:r>
              <a:rPr dirty="0" sz="3300" spc="-270"/>
              <a:t> </a:t>
            </a:r>
            <a:r>
              <a:rPr dirty="0" sz="3300" spc="135"/>
              <a:t>tested,</a:t>
            </a:r>
            <a:r>
              <a:rPr dirty="0" sz="3300" spc="-275"/>
              <a:t> </a:t>
            </a:r>
            <a:r>
              <a:rPr dirty="0" sz="3300" spc="155"/>
              <a:t>measured,</a:t>
            </a:r>
            <a:r>
              <a:rPr dirty="0" sz="3300" spc="-265"/>
              <a:t> </a:t>
            </a:r>
            <a:r>
              <a:rPr dirty="0" sz="3300" spc="220"/>
              <a:t>and</a:t>
            </a:r>
            <a:r>
              <a:rPr dirty="0" sz="3300" spc="-275"/>
              <a:t> </a:t>
            </a:r>
            <a:r>
              <a:rPr dirty="0" sz="3300" spc="254"/>
              <a:t>honest</a:t>
            </a:r>
            <a:r>
              <a:rPr dirty="0" sz="3300" spc="-270"/>
              <a:t> </a:t>
            </a:r>
            <a:r>
              <a:rPr dirty="0" sz="3300" spc="200"/>
              <a:t>about </a:t>
            </a:r>
            <a:r>
              <a:rPr dirty="0" sz="3300" spc="130"/>
              <a:t>its</a:t>
            </a:r>
            <a:r>
              <a:rPr dirty="0" sz="3300" spc="-290"/>
              <a:t> </a:t>
            </a:r>
            <a:r>
              <a:rPr dirty="0" sz="3300" spc="-10"/>
              <a:t>limits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444500" y="1930400"/>
            <a:ext cx="1141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0">
                <a:solidFill>
                  <a:srgbClr val="B99456"/>
                </a:solidFill>
                <a:latin typeface="SimSun-ExtB"/>
                <a:cs typeface="SimSun-ExtB"/>
              </a:rPr>
              <a:t>VERIFIED</a:t>
            </a:r>
            <a:r>
              <a:rPr dirty="0" sz="1200" spc="29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65">
                <a:solidFill>
                  <a:srgbClr val="B99456"/>
                </a:solidFill>
                <a:latin typeface="SimSun-ExtB"/>
                <a:cs typeface="SimSun-ExtB"/>
              </a:rPr>
              <a:t>NOW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1818587"/>
            <a:ext cx="5389880" cy="2343150"/>
          </a:xfrm>
          <a:prstGeom prst="rect">
            <a:avLst/>
          </a:prstGeom>
        </p:spPr>
        <p:txBody>
          <a:bodyPr wrap="square" lIns="0" tIns="2514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dirty="0" sz="4700" spc="-10">
                <a:solidFill>
                  <a:srgbClr val="EDE9E1"/>
                </a:solidFill>
                <a:latin typeface="Trebuchet MS"/>
                <a:cs typeface="Trebuchet MS"/>
              </a:rPr>
              <a:t>30/30</a:t>
            </a:r>
            <a:endParaRPr sz="4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Automated</a:t>
            </a:r>
            <a:r>
              <a:rPr dirty="0" sz="1900" spc="10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tests</a:t>
            </a:r>
            <a:r>
              <a:rPr dirty="0" sz="1900" spc="11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passed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935"/>
              </a:spcBef>
            </a:pP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In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the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repository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50">
                <a:solidFill>
                  <a:srgbClr val="D6D4CC"/>
                </a:solidFill>
                <a:latin typeface="Arial"/>
                <a:cs typeface="Arial"/>
              </a:rPr>
              <a:t>test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run.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Coverage: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API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routes,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ingestion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0">
                <a:solidFill>
                  <a:srgbClr val="D6D4CC"/>
                </a:solidFill>
                <a:latin typeface="Arial"/>
                <a:cs typeface="Arial"/>
              </a:rPr>
              <a:t>RSS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fallback,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NLP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scoring,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45">
                <a:solidFill>
                  <a:srgbClr val="D6D4CC"/>
                </a:solidFill>
                <a:latin typeface="Arial"/>
                <a:cs typeface="Arial"/>
              </a:rPr>
              <a:t>portfolio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math, and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Module</a:t>
            </a:r>
            <a:r>
              <a:rPr dirty="0" sz="1700" spc="-6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B.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48399" y="4038600"/>
            <a:ext cx="5486400" cy="28575"/>
          </a:xfrm>
          <a:custGeom>
            <a:avLst/>
            <a:gdLst/>
            <a:ahLst/>
            <a:cxnLst/>
            <a:rect l="l" t="t" r="r" b="b"/>
            <a:pathLst>
              <a:path w="5486400" h="28575">
                <a:moveTo>
                  <a:pt x="5474007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1"/>
                </a:lnTo>
                <a:lnTo>
                  <a:pt x="0" y="14287"/>
                </a:lnTo>
                <a:lnTo>
                  <a:pt x="0" y="12392"/>
                </a:lnTo>
                <a:lnTo>
                  <a:pt x="12392" y="0"/>
                </a:lnTo>
                <a:lnTo>
                  <a:pt x="5474007" y="0"/>
                </a:lnTo>
                <a:lnTo>
                  <a:pt x="5486399" y="12392"/>
                </a:lnTo>
                <a:lnTo>
                  <a:pt x="5486399" y="16181"/>
                </a:lnTo>
                <a:lnTo>
                  <a:pt x="5475828" y="28212"/>
                </a:lnTo>
                <a:lnTo>
                  <a:pt x="5474007" y="28574"/>
                </a:lnTo>
                <a:close/>
              </a:path>
            </a:pathLst>
          </a:custGeom>
          <a:solidFill>
            <a:srgbClr val="333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200" y="4333875"/>
            <a:ext cx="5486400" cy="28575"/>
          </a:xfrm>
          <a:custGeom>
            <a:avLst/>
            <a:gdLst/>
            <a:ahLst/>
            <a:cxnLst/>
            <a:rect l="l" t="t" r="r" b="b"/>
            <a:pathLst>
              <a:path w="5486400" h="28575">
                <a:moveTo>
                  <a:pt x="5474006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1"/>
                </a:lnTo>
                <a:lnTo>
                  <a:pt x="0" y="14287"/>
                </a:lnTo>
                <a:lnTo>
                  <a:pt x="0" y="12392"/>
                </a:lnTo>
                <a:lnTo>
                  <a:pt x="12392" y="0"/>
                </a:lnTo>
                <a:lnTo>
                  <a:pt x="5474006" y="0"/>
                </a:lnTo>
                <a:lnTo>
                  <a:pt x="5486399" y="12392"/>
                </a:lnTo>
                <a:lnTo>
                  <a:pt x="5486399" y="16181"/>
                </a:lnTo>
                <a:lnTo>
                  <a:pt x="5475829" y="28212"/>
                </a:lnTo>
                <a:lnTo>
                  <a:pt x="5474006" y="28574"/>
                </a:lnTo>
                <a:close/>
              </a:path>
            </a:pathLst>
          </a:custGeom>
          <a:solidFill>
            <a:srgbClr val="333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235700" y="2571256"/>
            <a:ext cx="5046345" cy="294259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 spc="105">
                <a:solidFill>
                  <a:srgbClr val="B99456"/>
                </a:solidFill>
                <a:latin typeface="SimSun-ExtB"/>
                <a:cs typeface="SimSun-ExtB"/>
              </a:rPr>
              <a:t>LIMITS</a:t>
            </a: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What</a:t>
            </a:r>
            <a:r>
              <a:rPr dirty="0" sz="1900" spc="-10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35">
                <a:solidFill>
                  <a:srgbClr val="EDE9E1"/>
                </a:solidFill>
                <a:latin typeface="Arial"/>
                <a:cs typeface="Arial"/>
              </a:rPr>
              <a:t>remains</a:t>
            </a:r>
            <a:r>
              <a:rPr dirty="0" sz="1900" spc="-9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bounded</a:t>
            </a:r>
            <a:endParaRPr sz="1900">
              <a:latin typeface="Arial"/>
              <a:cs typeface="Arial"/>
            </a:endParaRPr>
          </a:p>
          <a:p>
            <a:pPr marL="12700" marR="95250">
              <a:lnSpc>
                <a:spcPct val="110300"/>
              </a:lnSpc>
              <a:spcBef>
                <a:spcPts val="93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Rule-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based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D6D4CC"/>
                </a:solidFill>
                <a:latin typeface="Arial"/>
                <a:cs typeface="Arial"/>
              </a:rPr>
              <a:t>parsing,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synthetic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45">
                <a:solidFill>
                  <a:srgbClr val="D6D4CC"/>
                </a:solidFill>
                <a:latin typeface="Arial"/>
                <a:cs typeface="Arial"/>
              </a:rPr>
              <a:t>portfolio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scope,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fixed haircuts,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55">
                <a:solidFill>
                  <a:srgbClr val="D6D4CC"/>
                </a:solidFill>
                <a:latin typeface="Arial"/>
                <a:cs typeface="Arial"/>
              </a:rPr>
              <a:t>third-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party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0">
                <a:solidFill>
                  <a:srgbClr val="D6D4CC"/>
                </a:solidFill>
                <a:latin typeface="Arial"/>
                <a:cs typeface="Arial"/>
              </a:rPr>
              <a:t>RSS</a:t>
            </a:r>
            <a:r>
              <a:rPr dirty="0" sz="1700" spc="-3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availability.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85">
                <a:solidFill>
                  <a:srgbClr val="B99456"/>
                </a:solidFill>
                <a:latin typeface="SimSun-ExtB"/>
                <a:cs typeface="SimSun-ExtB"/>
              </a:rPr>
              <a:t>NEXT</a:t>
            </a:r>
            <a:endParaRPr sz="12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900" spc="-45">
                <a:solidFill>
                  <a:srgbClr val="EDE9E1"/>
                </a:solidFill>
                <a:latin typeface="Arial"/>
                <a:cs typeface="Arial"/>
              </a:rPr>
              <a:t>Where</a:t>
            </a:r>
            <a:r>
              <a:rPr dirty="0" sz="1900" spc="-7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90">
                <a:solidFill>
                  <a:srgbClr val="EDE9E1"/>
                </a:solidFill>
                <a:latin typeface="Arial"/>
                <a:cs typeface="Arial"/>
              </a:rPr>
              <a:t>it</a:t>
            </a:r>
            <a:r>
              <a:rPr dirty="0" sz="1900" spc="-7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30">
                <a:solidFill>
                  <a:srgbClr val="EDE9E1"/>
                </a:solidFill>
                <a:latin typeface="Arial"/>
                <a:cs typeface="Arial"/>
              </a:rPr>
              <a:t>can</a:t>
            </a:r>
            <a:r>
              <a:rPr dirty="0" sz="1900" spc="-7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DE9E1"/>
                </a:solidFill>
                <a:latin typeface="Arial"/>
                <a:cs typeface="Arial"/>
              </a:rPr>
              <a:t>grow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93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Hybrid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FinBERT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analysis,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broker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D6D4CC"/>
                </a:solidFill>
                <a:latin typeface="Arial"/>
                <a:cs typeface="Arial"/>
              </a:rPr>
              <a:t>APIs,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historical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crisis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backtesting,</a:t>
            </a:r>
            <a:r>
              <a:rPr dirty="0" sz="17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and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10">
                <a:solidFill>
                  <a:srgbClr val="D6D4CC"/>
                </a:solidFill>
                <a:latin typeface="Arial"/>
                <a:cs typeface="Arial"/>
              </a:rPr>
              <a:t>VaR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310">
                <a:solidFill>
                  <a:srgbClr val="D6D4CC"/>
                </a:solidFill>
                <a:latin typeface="Arial"/>
                <a:cs typeface="Arial"/>
              </a:rPr>
              <a:t>/</a:t>
            </a:r>
            <a:r>
              <a:rPr dirty="0" sz="1700" spc="-4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Expected</a:t>
            </a:r>
            <a:r>
              <a:rPr dirty="0" sz="1700" spc="-4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Shortfall.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4540250"/>
            <a:ext cx="3729990" cy="1659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20"/>
              </a:lnSpc>
              <a:spcBef>
                <a:spcPts val="100"/>
              </a:spcBef>
            </a:pPr>
            <a:r>
              <a:rPr dirty="0" sz="1200" spc="120">
                <a:solidFill>
                  <a:srgbClr val="B99456"/>
                </a:solidFill>
                <a:latin typeface="SimSun-ExtB"/>
                <a:cs typeface="SimSun-ExtB"/>
              </a:rPr>
              <a:t>MEASURED</a:t>
            </a:r>
            <a:r>
              <a:rPr dirty="0" sz="1200" spc="28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70">
                <a:solidFill>
                  <a:srgbClr val="B99456"/>
                </a:solidFill>
                <a:latin typeface="SimSun-ExtB"/>
                <a:cs typeface="SimSun-ExtB"/>
              </a:rPr>
              <a:t>IN</a:t>
            </a:r>
            <a:r>
              <a:rPr dirty="0" sz="1200" spc="29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90">
                <a:solidFill>
                  <a:srgbClr val="B99456"/>
                </a:solidFill>
                <a:latin typeface="SimSun-ExtB"/>
                <a:cs typeface="SimSun-ExtB"/>
              </a:rPr>
              <a:t>THE</a:t>
            </a:r>
            <a:r>
              <a:rPr dirty="0" sz="1200" spc="29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05">
                <a:solidFill>
                  <a:srgbClr val="B99456"/>
                </a:solidFill>
                <a:latin typeface="SimSun-ExtB"/>
                <a:cs typeface="SimSun-ExtB"/>
              </a:rPr>
              <a:t>README</a:t>
            </a:r>
            <a:endParaRPr sz="1200">
              <a:latin typeface="SimSun-ExtB"/>
              <a:cs typeface="SimSun-ExtB"/>
            </a:endParaRPr>
          </a:p>
          <a:p>
            <a:pPr marL="12700">
              <a:lnSpc>
                <a:spcPts val="5420"/>
              </a:lnSpc>
            </a:pPr>
            <a:r>
              <a:rPr dirty="0" sz="4700" spc="-20">
                <a:solidFill>
                  <a:srgbClr val="EDE9E1"/>
                </a:solidFill>
                <a:latin typeface="Trebuchet MS"/>
                <a:cs typeface="Trebuchet MS"/>
              </a:rPr>
              <a:t>&lt;15</a:t>
            </a:r>
            <a:r>
              <a:rPr dirty="0" sz="4700" spc="-465">
                <a:solidFill>
                  <a:srgbClr val="EDE9E1"/>
                </a:solidFill>
                <a:latin typeface="Trebuchet MS"/>
                <a:cs typeface="Trebuchet MS"/>
              </a:rPr>
              <a:t> </a:t>
            </a:r>
            <a:r>
              <a:rPr dirty="0" sz="4700" spc="440">
                <a:solidFill>
                  <a:srgbClr val="EDE9E1"/>
                </a:solidFill>
                <a:latin typeface="Trebuchet MS"/>
                <a:cs typeface="Trebuchet MS"/>
              </a:rPr>
              <a:t>ms</a:t>
            </a:r>
            <a:endParaRPr sz="4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900" spc="-35">
                <a:solidFill>
                  <a:srgbClr val="EDE9E1"/>
                </a:solidFill>
                <a:latin typeface="Arial"/>
                <a:cs typeface="Arial"/>
              </a:rPr>
              <a:t>Average</a:t>
            </a:r>
            <a:r>
              <a:rPr dirty="0" sz="1900" spc="-5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DE9E1"/>
                </a:solidFill>
                <a:latin typeface="Arial"/>
                <a:cs typeface="Arial"/>
              </a:rPr>
              <a:t>NLP</a:t>
            </a:r>
            <a:r>
              <a:rPr dirty="0" sz="1900" spc="-50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inference</a:t>
            </a:r>
            <a:r>
              <a:rPr dirty="0" sz="1900" spc="-45">
                <a:solidFill>
                  <a:srgbClr val="EDE9E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DE9E1"/>
                </a:solidFill>
                <a:latin typeface="Arial"/>
                <a:cs typeface="Arial"/>
              </a:rPr>
              <a:t>latency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700">
                <a:solidFill>
                  <a:srgbClr val="D6D4CC"/>
                </a:solidFill>
                <a:latin typeface="Arial"/>
                <a:cs typeface="Arial"/>
              </a:rPr>
              <a:t>Synthetic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D4CC"/>
                </a:solidFill>
                <a:latin typeface="Arial"/>
                <a:cs typeface="Arial"/>
              </a:rPr>
              <a:t>maximum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D6D4CC"/>
                </a:solidFill>
                <a:latin typeface="Arial"/>
                <a:cs typeface="Arial"/>
              </a:rPr>
              <a:t>drawdown:</a:t>
            </a:r>
            <a:r>
              <a:rPr dirty="0" sz="1700" spc="-5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1700" spc="160">
                <a:solidFill>
                  <a:srgbClr val="D6D4CC"/>
                </a:solidFill>
                <a:latin typeface="Arial"/>
                <a:cs typeface="Arial"/>
              </a:rPr>
              <a:t>-</a:t>
            </a:r>
            <a:r>
              <a:rPr dirty="0" sz="1700" spc="-75">
                <a:solidFill>
                  <a:srgbClr val="D6D4CC"/>
                </a:solidFill>
                <a:latin typeface="Arial"/>
                <a:cs typeface="Arial"/>
              </a:rPr>
              <a:t>16.4%.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 spc="20"/>
              <a:t>3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330200"/>
            <a:ext cx="1141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0">
                <a:solidFill>
                  <a:srgbClr val="B99456"/>
                </a:solidFill>
                <a:latin typeface="SimSun-ExtB"/>
                <a:cs typeface="SimSun-ExtB"/>
              </a:rPr>
              <a:t>THE</a:t>
            </a:r>
            <a:r>
              <a:rPr dirty="0" sz="1200" spc="285">
                <a:solidFill>
                  <a:srgbClr val="B99456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B99456"/>
                </a:solidFill>
                <a:latin typeface="SimSun-ExtB"/>
                <a:cs typeface="SimSun-ExtB"/>
              </a:rPr>
              <a:t>TAKEAWAY</a:t>
            </a:r>
            <a:endParaRPr sz="1200">
              <a:latin typeface="SimSun-ExtB"/>
              <a:cs typeface="SimSun-ExtB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0700" y="457263"/>
            <a:ext cx="3455035" cy="2503805"/>
          </a:xfrm>
          <a:prstGeom prst="rect"/>
        </p:spPr>
        <p:txBody>
          <a:bodyPr wrap="square" lIns="0" tIns="141605" rIns="0" bIns="0" rtlCol="0" vert="horz">
            <a:spAutoFit/>
          </a:bodyPr>
          <a:lstStyle/>
          <a:p>
            <a:pPr marL="12700" marR="5080">
              <a:lnSpc>
                <a:spcPct val="82000"/>
              </a:lnSpc>
              <a:spcBef>
                <a:spcPts val="1115"/>
              </a:spcBef>
            </a:pPr>
            <a:r>
              <a:rPr dirty="0" spc="110"/>
              <a:t>Detect. </a:t>
            </a:r>
            <a:r>
              <a:rPr dirty="0" spc="80"/>
              <a:t>Analyse. </a:t>
            </a:r>
            <a:r>
              <a:rPr dirty="0" spc="295"/>
              <a:t>Stress-</a:t>
            </a:r>
            <a:r>
              <a:rPr dirty="0" spc="-370"/>
              <a:t>T</a:t>
            </a:r>
            <a:r>
              <a:rPr dirty="0" spc="45"/>
              <a:t>e</a:t>
            </a:r>
            <a:r>
              <a:rPr dirty="0" spc="30"/>
              <a:t>s</a:t>
            </a:r>
            <a:r>
              <a:rPr dirty="0" spc="40"/>
              <a:t>t</a:t>
            </a:r>
            <a:r>
              <a:rPr dirty="0" spc="150"/>
              <a:t>.</a:t>
            </a:r>
            <a:r>
              <a:rPr dirty="0" spc="-25"/>
              <a:t> </a:t>
            </a:r>
            <a:r>
              <a:rPr dirty="0" spc="85"/>
              <a:t>Decide.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0700" y="3829037"/>
            <a:ext cx="6904990" cy="2663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83185">
              <a:lnSpc>
                <a:spcPct val="112500"/>
              </a:lnSpc>
              <a:spcBef>
                <a:spcPts val="100"/>
              </a:spcBef>
            </a:pPr>
            <a:r>
              <a:rPr dirty="0" sz="2000" spc="-60">
                <a:solidFill>
                  <a:srgbClr val="D6D4CC"/>
                </a:solidFill>
                <a:latin typeface="Arial"/>
                <a:cs typeface="Arial"/>
              </a:rPr>
              <a:t>RiskPulse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D6D4CC"/>
                </a:solidFill>
                <a:latin typeface="Arial"/>
                <a:cs typeface="Arial"/>
              </a:rPr>
              <a:t>links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D6D4CC"/>
                </a:solidFill>
                <a:latin typeface="Arial"/>
                <a:cs typeface="Arial"/>
              </a:rPr>
              <a:t>breaking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D6D4CC"/>
                </a:solidFill>
                <a:latin typeface="Arial"/>
                <a:cs typeface="Arial"/>
              </a:rPr>
              <a:t>financial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65">
                <a:solidFill>
                  <a:srgbClr val="D6D4CC"/>
                </a:solidFill>
                <a:latin typeface="Arial"/>
                <a:cs typeface="Arial"/>
              </a:rPr>
              <a:t>text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110">
                <a:solidFill>
                  <a:srgbClr val="D6D4CC"/>
                </a:solidFill>
                <a:latin typeface="Arial"/>
                <a:cs typeface="Arial"/>
              </a:rPr>
              <a:t>to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D6D4CC"/>
                </a:solidFill>
                <a:latin typeface="Arial"/>
                <a:cs typeface="Arial"/>
              </a:rPr>
              <a:t>an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20">
                <a:solidFill>
                  <a:srgbClr val="D6D4CC"/>
                </a:solidFill>
                <a:latin typeface="Arial"/>
                <a:cs typeface="Arial"/>
              </a:rPr>
              <a:t>interpretable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D6D4CC"/>
                </a:solidFill>
                <a:latin typeface="Arial"/>
                <a:cs typeface="Arial"/>
              </a:rPr>
              <a:t>risk</a:t>
            </a:r>
            <a:r>
              <a:rPr dirty="0" sz="2000" spc="-2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D6D4CC"/>
                </a:solidFill>
                <a:latin typeface="Arial"/>
                <a:cs typeface="Arial"/>
              </a:rPr>
              <a:t>signal,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D6D4CC"/>
                </a:solidFill>
                <a:latin typeface="Arial"/>
                <a:cs typeface="Arial"/>
              </a:rPr>
              <a:t>then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D6D4CC"/>
                </a:solidFill>
                <a:latin typeface="Arial"/>
                <a:cs typeface="Arial"/>
              </a:rPr>
              <a:t>carries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D6D4CC"/>
                </a:solidFill>
                <a:latin typeface="Arial"/>
                <a:cs typeface="Arial"/>
              </a:rPr>
              <a:t>high-</a:t>
            </a:r>
            <a:r>
              <a:rPr dirty="0" sz="2000" spc="30">
                <a:solidFill>
                  <a:srgbClr val="D6D4CC"/>
                </a:solidFill>
                <a:latin typeface="Arial"/>
                <a:cs typeface="Arial"/>
              </a:rPr>
              <a:t>impact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D6D4CC"/>
                </a:solidFill>
                <a:latin typeface="Arial"/>
                <a:cs typeface="Arial"/>
              </a:rPr>
              <a:t>events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D6D4CC"/>
                </a:solidFill>
                <a:latin typeface="Arial"/>
                <a:cs typeface="Arial"/>
              </a:rPr>
              <a:t>into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D6D4CC"/>
                </a:solidFill>
                <a:latin typeface="Arial"/>
                <a:cs typeface="Arial"/>
              </a:rPr>
              <a:t>a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D6D4CC"/>
                </a:solidFill>
                <a:latin typeface="Arial"/>
                <a:cs typeface="Arial"/>
              </a:rPr>
              <a:t>portfolio</a:t>
            </a:r>
            <a:r>
              <a:rPr dirty="0" sz="2000" spc="-90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D6D4CC"/>
                </a:solidFill>
                <a:latin typeface="Arial"/>
                <a:cs typeface="Arial"/>
              </a:rPr>
              <a:t>stress</a:t>
            </a:r>
            <a:r>
              <a:rPr dirty="0" sz="2000" spc="-55">
                <a:solidFill>
                  <a:srgbClr val="D6D4CC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D6D4CC"/>
                </a:solidFill>
                <a:latin typeface="Arial"/>
                <a:cs typeface="Arial"/>
              </a:rPr>
              <a:t>view.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1200" spc="125">
                <a:solidFill>
                  <a:srgbClr val="A8ABB3"/>
                </a:solidFill>
                <a:latin typeface="SimSun-ExtB"/>
                <a:cs typeface="SimSun-ExtB"/>
              </a:rPr>
              <a:t>TRANSPARENT,</a:t>
            </a:r>
            <a:r>
              <a:rPr dirty="0" sz="1200" spc="300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A8ABB3"/>
                </a:solidFill>
                <a:latin typeface="SimSun-ExtB"/>
                <a:cs typeface="SimSun-ExtB"/>
              </a:rPr>
              <a:t>STUDENT-</a:t>
            </a:r>
            <a:r>
              <a:rPr dirty="0" sz="1200" spc="-45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0">
                <a:solidFill>
                  <a:srgbClr val="A8ABB3"/>
                </a:solidFill>
                <a:latin typeface="SimSun-ExtB"/>
                <a:cs typeface="SimSun-ExtB"/>
              </a:rPr>
              <a:t>READY</a:t>
            </a:r>
            <a:r>
              <a:rPr dirty="0" sz="1200" spc="300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A8ABB3"/>
                </a:solidFill>
                <a:latin typeface="SimSun-ExtB"/>
                <a:cs typeface="SimSun-ExtB"/>
              </a:rPr>
              <a:t>PROTOTYPE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-600">
                <a:solidFill>
                  <a:srgbClr val="A8ABB3"/>
                </a:solidFill>
                <a:latin typeface="SimSun-ExtB"/>
                <a:cs typeface="SimSun-ExtB"/>
              </a:rPr>
              <a:t>·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70">
                <a:solidFill>
                  <a:srgbClr val="A8ABB3"/>
                </a:solidFill>
                <a:latin typeface="SimSun-ExtB"/>
                <a:cs typeface="SimSun-ExtB"/>
              </a:rPr>
              <a:t>S&amp;</a:t>
            </a:r>
            <a:r>
              <a:rPr dirty="0" sz="1200" spc="-459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P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A8ABB3"/>
                </a:solidFill>
                <a:latin typeface="SimSun-ExtB"/>
                <a:cs typeface="SimSun-ExtB"/>
              </a:rPr>
              <a:t>GLOBAL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&amp;</a:t>
            </a:r>
            <a:r>
              <a:rPr dirty="0" sz="1200" spc="300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14">
                <a:solidFill>
                  <a:srgbClr val="A8ABB3"/>
                </a:solidFill>
                <a:latin typeface="SimSun-ExtB"/>
                <a:cs typeface="SimSun-ExtB"/>
              </a:rPr>
              <a:t>CRISIL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120">
                <a:solidFill>
                  <a:srgbClr val="A8ABB3"/>
                </a:solidFill>
                <a:latin typeface="SimSun-ExtB"/>
                <a:cs typeface="SimSun-ExtB"/>
              </a:rPr>
              <a:t>HACKATHON</a:t>
            </a:r>
            <a:r>
              <a:rPr dirty="0" sz="1200" spc="30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85">
                <a:solidFill>
                  <a:srgbClr val="A8ABB3"/>
                </a:solidFill>
                <a:latin typeface="SimSun-ExtB"/>
                <a:cs typeface="SimSun-ExtB"/>
              </a:rPr>
              <a:t>2026</a:t>
            </a:r>
            <a:endParaRPr sz="1200">
              <a:latin typeface="SimSun-ExtB"/>
              <a:cs typeface="SimSun-ExtB"/>
            </a:endParaRPr>
          </a:p>
          <a:p>
            <a:pPr marL="12700" marR="210820">
              <a:lnSpc>
                <a:spcPts val="2780"/>
              </a:lnSpc>
              <a:spcBef>
                <a:spcPts val="235"/>
              </a:spcBef>
            </a:pPr>
            <a:r>
              <a:rPr dirty="0" sz="1200" spc="55">
                <a:solidFill>
                  <a:srgbClr val="A8ABB3"/>
                </a:solidFill>
                <a:latin typeface="SimSun-ExtB"/>
                <a:cs typeface="SimSun-ExtB"/>
              </a:rPr>
              <a:t>GitHub:</a:t>
            </a:r>
            <a:r>
              <a:rPr dirty="0" sz="1200" spc="12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65">
                <a:solidFill>
                  <a:srgbClr val="A8ABB3"/>
                </a:solidFill>
                <a:latin typeface="SimSun-ExtB"/>
                <a:cs typeface="SimSun-ExtB"/>
                <a:hlinkClick r:id="rId2"/>
              </a:rPr>
              <a:t>https://github.com/Abhi4621/VIT-Bhopal-Abhi-Pandey-S-P-Crisil-</a:t>
            </a:r>
            <a:r>
              <a:rPr dirty="0" sz="1200" spc="45">
                <a:solidFill>
                  <a:srgbClr val="A8ABB3"/>
                </a:solidFill>
                <a:latin typeface="SimSun-ExtB"/>
                <a:cs typeface="SimSun-ExtB"/>
                <a:hlinkClick r:id="rId2"/>
              </a:rPr>
              <a:t>hackathon</a:t>
            </a:r>
            <a:r>
              <a:rPr dirty="0" sz="1200" spc="45">
                <a:solidFill>
                  <a:srgbClr val="A8ABB3"/>
                </a:solidFill>
                <a:latin typeface="SimSun-ExtB"/>
                <a:cs typeface="SimSun-ExtB"/>
              </a:rPr>
              <a:t> Live</a:t>
            </a:r>
            <a:r>
              <a:rPr dirty="0" sz="1200" spc="130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0">
                <a:solidFill>
                  <a:srgbClr val="A8ABB3"/>
                </a:solidFill>
                <a:latin typeface="SimSun-ExtB"/>
                <a:cs typeface="SimSun-ExtB"/>
              </a:rPr>
              <a:t>demo:</a:t>
            </a:r>
            <a:r>
              <a:rPr dirty="0" sz="1200" spc="14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65">
                <a:solidFill>
                  <a:srgbClr val="A8ABB3"/>
                </a:solidFill>
                <a:latin typeface="SimSun-ExtB"/>
                <a:cs typeface="SimSun-ExtB"/>
                <a:hlinkClick r:id="rId3"/>
              </a:rPr>
              <a:t>https://vit-bhopal-abhi-pandey-s-p-crisil-</a:t>
            </a:r>
            <a:r>
              <a:rPr dirty="0" sz="1200" spc="50">
                <a:solidFill>
                  <a:srgbClr val="A8ABB3"/>
                </a:solidFill>
                <a:latin typeface="SimSun-ExtB"/>
                <a:cs typeface="SimSun-ExtB"/>
                <a:hlinkClick r:id="rId3"/>
              </a:rPr>
              <a:t>hack.vercel.app/</a:t>
            </a:r>
            <a:endParaRPr sz="1200">
              <a:latin typeface="SimSun-ExtB"/>
              <a:cs typeface="SimSun-ExtB"/>
            </a:endParaRPr>
          </a:p>
          <a:p>
            <a:pPr marL="12700" marR="41275">
              <a:lnSpc>
                <a:spcPct val="109400"/>
              </a:lnSpc>
              <a:spcBef>
                <a:spcPts val="880"/>
              </a:spcBef>
            </a:pP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The</a:t>
            </a:r>
            <a:r>
              <a:rPr dirty="0" sz="1200" spc="170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5">
                <a:solidFill>
                  <a:srgbClr val="A8ABB3"/>
                </a:solidFill>
                <a:latin typeface="SimSun-ExtB"/>
                <a:cs typeface="SimSun-ExtB"/>
              </a:rPr>
              <a:t>supplied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65">
                <a:solidFill>
                  <a:srgbClr val="A8ABB3"/>
                </a:solidFill>
                <a:latin typeface="SimSun-ExtB"/>
                <a:cs typeface="SimSun-ExtB"/>
              </a:rPr>
              <a:t>live-</a:t>
            </a:r>
            <a:r>
              <a:rPr dirty="0" sz="1200" spc="45">
                <a:solidFill>
                  <a:srgbClr val="A8ABB3"/>
                </a:solidFill>
                <a:latin typeface="SimSun-ExtB"/>
                <a:cs typeface="SimSun-ExtB"/>
              </a:rPr>
              <a:t>demo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URL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5">
                <a:solidFill>
                  <a:srgbClr val="A8ABB3"/>
                </a:solidFill>
                <a:latin typeface="SimSun-ExtB"/>
                <a:cs typeface="SimSun-ExtB"/>
              </a:rPr>
              <a:t>returned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a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0">
                <a:solidFill>
                  <a:srgbClr val="A8ABB3"/>
                </a:solidFill>
                <a:latin typeface="SimSun-ExtB"/>
                <a:cs typeface="SimSun-ExtB"/>
              </a:rPr>
              <a:t>Vercel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404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0">
                <a:solidFill>
                  <a:srgbClr val="A8ABB3"/>
                </a:solidFill>
                <a:latin typeface="SimSun-ExtB"/>
                <a:cs typeface="SimSun-ExtB"/>
              </a:rPr>
              <a:t>during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60">
                <a:solidFill>
                  <a:srgbClr val="A8ABB3"/>
                </a:solidFill>
                <a:latin typeface="SimSun-ExtB"/>
                <a:cs typeface="SimSun-ExtB"/>
              </a:rPr>
              <a:t>verification;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5">
                <a:solidFill>
                  <a:srgbClr val="A8ABB3"/>
                </a:solidFill>
                <a:latin typeface="SimSun-ExtB"/>
                <a:cs typeface="SimSun-ExtB"/>
              </a:rPr>
              <a:t>confirm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-25">
                <a:solidFill>
                  <a:srgbClr val="A8ABB3"/>
                </a:solidFill>
                <a:latin typeface="SimSun-ExtB"/>
                <a:cs typeface="SimSun-ExtB"/>
              </a:rPr>
              <a:t>the </a:t>
            </a:r>
            <a:r>
              <a:rPr dirty="0" sz="1200" spc="55">
                <a:solidFill>
                  <a:srgbClr val="A8ABB3"/>
                </a:solidFill>
                <a:latin typeface="SimSun-ExtB"/>
                <a:cs typeface="SimSun-ExtB"/>
              </a:rPr>
              <a:t>deployment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0">
                <a:solidFill>
                  <a:srgbClr val="A8ABB3"/>
                </a:solidFill>
                <a:latin typeface="SimSun-ExtB"/>
                <a:cs typeface="SimSun-ExtB"/>
              </a:rPr>
              <a:t>before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55">
                <a:solidFill>
                  <a:srgbClr val="A8ABB3"/>
                </a:solidFill>
                <a:latin typeface="SimSun-ExtB"/>
                <a:cs typeface="SimSun-ExtB"/>
              </a:rPr>
              <a:t>presenting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it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>
                <a:solidFill>
                  <a:srgbClr val="A8ABB3"/>
                </a:solidFill>
                <a:latin typeface="SimSun-ExtB"/>
                <a:cs typeface="SimSun-ExtB"/>
              </a:rPr>
              <a:t>as</a:t>
            </a:r>
            <a:r>
              <a:rPr dirty="0" sz="1200" spc="175">
                <a:solidFill>
                  <a:srgbClr val="A8ABB3"/>
                </a:solidFill>
                <a:latin typeface="SimSun-ExtB"/>
                <a:cs typeface="SimSun-ExtB"/>
              </a:rPr>
              <a:t> </a:t>
            </a:r>
            <a:r>
              <a:rPr dirty="0" sz="1200" spc="40">
                <a:solidFill>
                  <a:srgbClr val="A8ABB3"/>
                </a:solidFill>
                <a:latin typeface="SimSun-ExtB"/>
                <a:cs typeface="SimSun-ExtB"/>
              </a:rPr>
              <a:t>live.</a:t>
            </a:r>
            <a:endParaRPr sz="1200">
              <a:latin typeface="SimSun-ExtB"/>
              <a:cs typeface="SimSun-ExtB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4375" y="0"/>
            <a:ext cx="3857624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8ABB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2026-10-09T18:55:36Z</dcterms:created>
  <dcterms:modified xsi:type="dcterms:W3CDTF">2026-10-09T18:55:36Z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2026-10-09T00:00:00Z</vt:filetime>
  </property>
  <property fmtid="{D5CDD505-2E9C-101B-9397-08002B2CF9AE}" pid="6" name="Producer">
    <vt:lpwstr>pdf-lib (https://github.com/Hopding/pdf-lib)</vt:lpwstr>
  </property>
</Properties>
</file>