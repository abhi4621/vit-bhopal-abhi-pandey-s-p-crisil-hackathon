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6858000" cy="6858000"/>
          </a:xfrm>
          <a:prstGeom prst="ellipse">
            <a:avLst/>
          </a:prstGeom>
          <a:solidFill>
            <a:srgbClr val="FF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011680" cy="438912"/>
          </a:xfrm>
          <a:prstGeom prst="roundRect">
            <a:avLst/>
          </a:prstGeom>
          <a:solidFill>
            <a:srgbClr val="E651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VIT BHOPAL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5E0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ARTIFICIAL INTELLIGENCE IN FINANCIAL RISK</a:t>
            </a:r>
          </a:p>
          <a:p>
            <a:pPr>
              <a:defRPr sz="1600">
                <a:solidFill>
                  <a:srgbClr val="FFEDD5"/>
                </a:solidFill>
                <a:latin typeface="Segoe UI"/>
              </a:defRPr>
            </a:pPr>
            <a:r>
              <a:t>RiskPulse: NLP Sentiment Engine &amp; Strategic Portfolio Stress Testing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SHAPING THE FUTURE</a:t>
            </a:r>
            <a:br/>
            <a:r>
              <a:t>OF RISK INTELLIGENCE</a:t>
            </a:r>
          </a:p>
          <a:p>
            <a:br/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Candidate: Abhi Pandey (21BCE10462)</a:t>
            </a:r>
            <a:br/>
            <a:r>
              <a:t>B.Tech CSE (AI &amp; Machine Learning)</a:t>
            </a:r>
            <a:br/>
            <a:r>
              <a:t>VIT Bhopal University, Madhya Pradesh</a:t>
            </a:r>
            <a:br/>
            <a:r>
              <a:t>S&amp;P Global &amp; CRISIL Campus Hackathon 2026</a:t>
            </a:r>
          </a:p>
        </p:txBody>
      </p:sp>
      <p:pic>
        <p:nvPicPr>
          <p:cNvPr id="8" name="Picture 7" descr="slide1_hero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3035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0" y="502920"/>
            <a:ext cx="20116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E00"/>
                </a:solidFill>
                <a:latin typeface="Segoe UI"/>
              </a:defRPr>
            </a:pPr>
            <a:r>
              <a:t>RISKPULSE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5E00"/>
                </a:solidFill>
                <a:latin typeface="Segoe UI"/>
              </a:defRPr>
            </a:pPr>
            <a:r>
              <a:t>INTRODUCTION</a:t>
            </a:r>
            <a:br/>
            <a:r>
              <a:t>TO RISKPULSE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  <a:latin typeface="Segoe UI"/>
              </a:defRPr>
            </a:pPr>
            <a:r>
              <a:t>RiskPulse refers to an autonomous risk intelligence platform bridging unstructured textual financial data with quantitative portfolio stress-testing.</a:t>
            </a:r>
            <a:br/>
            <a:br/>
            <a:r>
              <a:t>Key components include real-time RSS feed ingestion, FinBERT natural language sentiment scoring, and beta-weighted macroeconomic scenario simulation, enabling asset managers to detect and mitigate drawdowns before prices drop.</a:t>
            </a:r>
          </a:p>
        </p:txBody>
      </p:sp>
      <p:pic>
        <p:nvPicPr>
          <p:cNvPr id="8" name="Picture 7" descr="slide2_overview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11680"/>
            <a:ext cx="5943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5608015" cy="685800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0116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E00"/>
                </a:solidFill>
                <a:latin typeface="Segoe UI"/>
              </a:defRPr>
            </a:pPr>
            <a:r>
              <a:t>VIT BHOPAL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5E0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5E00"/>
                </a:solidFill>
                <a:latin typeface="Segoe UI"/>
              </a:defRPr>
            </a:pPr>
            <a:r>
              <a:t>THE FINANCIAL</a:t>
            </a:r>
            <a:br/>
            <a:r>
              <a:t>RISK PARADIGM</a:t>
            </a:r>
          </a:p>
          <a:p>
            <a:br/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Traditional risk modeling relies exclusively on backward-looking historical prices (Historical VaR) and overnight batch processing.</a:t>
            </a:r>
            <a:br/>
            <a:br/>
            <a:r>
              <a:t>By the time market prices drop, portfolios have already absorbed catastrophic losses, leaving asset managers vulnerable to intraday flash crashes.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80%+ Unstructured Text</a:t>
            </a:r>
          </a:p>
          <a:p>
            <a:br/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Over 80% of market-moving intelligence is textual—breaking news, earnings calls, central bank statements, and regulatory filings.</a:t>
            </a:r>
            <a:br/>
            <a:br/>
            <a:r>
              <a:t>Modern quantitative desks require proactive natural language parsing to bridge qualitative headlines directly into balance-sheet stress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6858000" cy="6858000"/>
          </a:xfrm>
          <a:prstGeom prst="ellipse">
            <a:avLst/>
          </a:prstGeom>
          <a:solidFill>
            <a:srgbClr val="FF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011680" cy="438912"/>
          </a:xfrm>
          <a:prstGeom prst="roundRect">
            <a:avLst/>
          </a:prstGeom>
          <a:solidFill>
            <a:srgbClr val="E651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RISKPULSE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5E0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CORE CHALLENGES IN FINANCIAL RISK</a:t>
            </a:r>
          </a:p>
          <a:p>
            <a:pPr>
              <a:defRPr sz="1600">
                <a:solidFill>
                  <a:srgbClr val="FFEDD5"/>
                </a:solidFill>
                <a:latin typeface="Segoe UI"/>
              </a:defRPr>
            </a:pPr>
            <a:r>
              <a:t>Why Existing Risk Management Frameworks Fail Under Macro Volatility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The Latency-Vulnerability Gap:</a:t>
            </a:r>
            <a:br/>
            <a:r>
              <a:t>Macroeconomic developments take hours or days to be priced into legacy risk models, exposing capital to severe drawdowns.</a:t>
            </a:r>
            <a:br/>
            <a:br/>
            <a:r>
              <a:t>Financial Lexicon Misclassification:</a:t>
            </a:r>
            <a:br/>
            <a:r>
              <a:t>Generic NLP models misread domain jargon (e.g., 'liability shrink' or 'hawkish pause'), producing dangerous false positives.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Siloed Stress-Testing Engines:</a:t>
            </a:r>
            <a:br/>
            <a:r>
              <a:t>Portfolio stress testing exists as static spreadsheet exercises isolated from streaming market news signals.</a:t>
            </a:r>
            <a:br/>
            <a:br/>
            <a:r>
              <a:t>Multi-Sector Contagion Blindspots:</a:t>
            </a:r>
            <a:br/>
            <a:r>
              <a:t>Single-stock market shocks trigger unmonitored ripple effects across correlated suppliers and competitors.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0" y="502920"/>
            <a:ext cx="20116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E00"/>
                </a:solidFill>
                <a:latin typeface="Segoe UI"/>
              </a:defRPr>
            </a:pPr>
            <a:r>
              <a:t>VIT BHOPAL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5E00"/>
                </a:solidFill>
                <a:latin typeface="Segoe UI"/>
              </a:defRPr>
            </a:pPr>
            <a:r>
              <a:t>PROJECT</a:t>
            </a:r>
            <a:br/>
            <a: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Capital Preservation:</a:t>
            </a:r>
            <a:br/>
            <a:r>
              <a:t>Sudden macroeconomic shifts require instantaneous portfolio hedging rather than lagging end-of-day reviews.</a:t>
            </a:r>
            <a:br/>
            <a:br/>
            <a:r>
              <a:t>Academic &amp; Research Innovation:</a:t>
            </a:r>
            <a:br/>
            <a:r>
              <a:t>Synthesizing domain-specific FinBERT transformers with rigorous econometric Value-at-Risk (VaR) formulas.</a:t>
            </a:r>
            <a:br/>
            <a:br/>
            <a:r>
              <a:t>Democratizing Institutional Tech:</a:t>
            </a:r>
            <a:br/>
            <a:r>
              <a:t>Providing real-time risk intelligence without $25k/yr proprietary terminal licenses.</a:t>
            </a:r>
          </a:p>
        </p:txBody>
      </p:sp>
      <p:pic>
        <p:nvPicPr>
          <p:cNvPr id="8" name="Picture 7" descr="slide4_motiv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11680"/>
            <a:ext cx="62179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0" y="502920"/>
            <a:ext cx="20116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E00"/>
                </a:solidFill>
                <a:latin typeface="Segoe UI"/>
              </a:defRPr>
            </a:pPr>
            <a:r>
              <a:t>RISKPULSE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5E00"/>
                </a:solidFill>
                <a:latin typeface="Segoe UI"/>
              </a:defRPr>
            </a:pPr>
            <a:r>
              <a:t>CORE 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291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E00"/>
                </a:solidFill>
                <a:latin typeface="Segoe UI"/>
              </a:defRPr>
            </a:pPr>
            <a:r>
              <a:t>01. Live Ingestion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Continuous RSS feed extraction with resilient mock fallback.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291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231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E00"/>
                </a:solidFill>
                <a:latin typeface="Segoe UI"/>
              </a:defRPr>
            </a:pPr>
            <a:r>
              <a:t>02. FinBERT NLP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Financial polarity scoring (-1.0 to +1.0) and impact severity (1-10).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286000"/>
            <a:ext cx="3291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4231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E00"/>
                </a:solidFill>
                <a:latin typeface="Segoe UI"/>
              </a:defRPr>
            </a:pPr>
            <a:r>
              <a:t>03. Entity NER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Sector-aware extraction mapping company mentions to stock tickers.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3291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E00"/>
                </a:solidFill>
                <a:latin typeface="Segoe UI"/>
              </a:defRPr>
            </a:pPr>
            <a:r>
              <a:t>04. Macro Stress Engine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Dynamic scenario modeling (Rate Hikes, Stagflation) with Beta repricing.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297680"/>
            <a:ext cx="3291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434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E00"/>
                </a:solidFill>
                <a:latin typeface="Segoe UI"/>
              </a:defRPr>
            </a:pPr>
            <a:r>
              <a:t>05. Tail Risk (VaR)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Parametric Value-at-Risk and Expected Shortfall recalculation.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297680"/>
            <a:ext cx="3291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4348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E00"/>
                </a:solidFill>
                <a:latin typeface="Segoe UI"/>
              </a:defRPr>
            </a:pPr>
            <a:r>
              <a:t>06. Cloud Verification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Reactive React 18 dashboard with 100% test pass rate (30/30 tests).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6858000" cy="6858000"/>
          </a:xfrm>
          <a:prstGeom prst="ellipse">
            <a:avLst/>
          </a:prstGeom>
          <a:solidFill>
            <a:srgbClr val="FF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011680" cy="438912"/>
          </a:xfrm>
          <a:prstGeom prst="roundRect">
            <a:avLst/>
          </a:prstGeom>
          <a:solidFill>
            <a:srgbClr val="E651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VIT BHOPAL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5E0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EXISTING SYSTEMS &amp; SHORTCOMINGS</a:t>
            </a:r>
          </a:p>
          <a:p>
            <a:pPr>
              <a:defRPr sz="1600">
                <a:solidFill>
                  <a:srgbClr val="FFEDD5"/>
                </a:solidFill>
                <a:latin typeface="Segoe UI"/>
              </a:defRPr>
            </a:pPr>
            <a:r>
              <a:t>Why Traditional Financial Tools Cannot Meet Real-Time Demands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Bloomberg &amp; Refinitiv Terminals:</a:t>
            </a:r>
            <a:br/>
            <a:r>
              <a:t>• Extreme annual subscription costs exceeding $25,000 per seat.</a:t>
            </a:r>
            <a:br/>
            <a:r>
              <a:t>• Relies on manual analyst screening and closed proprietary code.</a:t>
            </a:r>
            <a:br/>
            <a:r>
              <a:t>• Inflexible black-box software unsuited for custom academic stress testing.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Legacy Statistical VaR (RiskMetrics):</a:t>
            </a:r>
            <a:br/>
            <a:r>
              <a:t>• Exclusively backward-looking over 250 or 500 trading days.</a:t>
            </a:r>
            <a:br/>
            <a:r>
              <a:t>• Completely blind to breaking news catalysts until prices drop.</a:t>
            </a:r>
            <a:br/>
            <a:br/>
            <a:r>
              <a:t>Generic NLP Analyzers (VADER / TextBlob):</a:t>
            </a:r>
            <a:br/>
            <a:r>
              <a:t>• Trained on social media; misclassifies financial jargon and lacks entity mapping.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0" y="502920"/>
            <a:ext cx="20116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E00"/>
                </a:solidFill>
                <a:latin typeface="Segoe UI"/>
              </a:defRPr>
            </a:pPr>
            <a:r>
              <a:t>RISKPULSE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5E00"/>
                </a:solidFill>
                <a:latin typeface="Segoe UI"/>
              </a:defRPr>
            </a:pPr>
            <a:r>
              <a:t>PROPOSED SYSTEM</a:t>
            </a:r>
            <a:br/>
            <a:r>
              <a:t>CONCEPT FLOW</a:t>
            </a:r>
          </a:p>
        </p:txBody>
      </p:sp>
      <p:pic>
        <p:nvPicPr>
          <p:cNvPr id="7" name="Picture 6" descr="slide7_concep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5156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577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5E00"/>
                </a:solidFill>
                <a:latin typeface="Segoe UI"/>
              </a:defRPr>
            </a:pPr>
            <a:r>
              <a:t>Autonomous Pipeline: User Role ➔ Raw Inputs ➔ Ingestion &amp; NLP ➔ Stress Modules ➔ Real-Time Telemetry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0" y="502920"/>
            <a:ext cx="20116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E00"/>
                </a:solidFill>
                <a:latin typeface="Segoe UI"/>
              </a:defRPr>
            </a:pPr>
            <a:r>
              <a:t>VIT BHOPAL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5E00"/>
                </a:solidFill>
                <a:latin typeface="Segoe UI"/>
              </a:defRPr>
            </a:pPr>
            <a:r>
              <a:t>SYSTEM ARCHITECTURE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663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78240" y="1828800"/>
            <a:ext cx="274320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E00"/>
                </a:solidFill>
                <a:latin typeface="Segoe UI"/>
              </a:defRPr>
            </a:pPr>
            <a:r>
              <a:t>Tier 1: Ingestion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Async RSS feed polling, MD5 hash deduplication, synthetic fallback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3291840"/>
            <a:ext cx="274320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33832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E00"/>
                </a:solidFill>
                <a:latin typeface="Segoe UI"/>
              </a:defRPr>
            </a:pPr>
            <a:r>
              <a:t>Tier 2: FinBERT Core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Deep learning sentiment (-1..+1), impact rating (1..10), ticker 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4754880"/>
            <a:ext cx="274320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48463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E00"/>
                </a:solidFill>
                <a:latin typeface="Segoe UI"/>
              </a:defRPr>
            </a:pPr>
            <a:r>
              <a:t>Tier 3: Stress Engine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Macro shocks, beta scaling, VaR/CVaR recalculation, React 18 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6858000" cy="6858000"/>
          </a:xfrm>
          <a:prstGeom prst="ellipse">
            <a:avLst/>
          </a:prstGeom>
          <a:solidFill>
            <a:srgbClr val="FF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011680" cy="438912"/>
          </a:xfrm>
          <a:prstGeom prst="roundRect">
            <a:avLst/>
          </a:prstGeom>
          <a:solidFill>
            <a:srgbClr val="E651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RISKPULSE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5E0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END-TO-END SYSTEM WORKFLOW</a:t>
            </a:r>
          </a:p>
          <a:p>
            <a:pPr>
              <a:defRPr sz="1600">
                <a:solidFill>
                  <a:srgbClr val="FFEDD5"/>
                </a:solidFill>
                <a:latin typeface="Segoe UI"/>
              </a:defRPr>
            </a:pPr>
            <a:r>
              <a:t>Sequential Pipeline Execution Across Six Critical Stages</a:t>
            </a:r>
          </a:p>
        </p:txBody>
      </p:sp>
      <p:pic>
        <p:nvPicPr>
          <p:cNvPr id="7" name="Picture 6" descr="slide9_workflow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10332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0" y="502920"/>
            <a:ext cx="20116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E00"/>
                </a:solidFill>
                <a:latin typeface="Segoe UI"/>
              </a:defRPr>
            </a:pPr>
            <a:r>
              <a:t>VIT BHOPAL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5E00"/>
                </a:solidFill>
                <a:latin typeface="Segoe UI"/>
              </a:defRPr>
            </a:pPr>
            <a:r>
              <a:t>METHODOLOGY &amp;</a:t>
            </a:r>
            <a:br/>
            <a:r>
              <a:t>FORMULATIONS</a:t>
            </a:r>
          </a:p>
        </p:txBody>
      </p:sp>
      <p:pic>
        <p:nvPicPr>
          <p:cNvPr id="7" name="Picture 6" descr="slide10_methodolog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1051560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Sentiment Polarity: S = P(Positive) - P(Negative) ∈ [-1.0, +1.0]</a:t>
            </a:r>
            <a:br/>
            <a:r>
              <a:t>• Asset Shock Formula: ΔP_i = Base_Shock · β_i · (1 + I_i / 10)  |  Tail Risk: VaR_α = V_p · z_α · σ_p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0" y="502920"/>
            <a:ext cx="20116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E00"/>
                </a:solidFill>
                <a:latin typeface="Segoe UI"/>
              </a:defRPr>
            </a:pPr>
            <a:r>
              <a:t>RISKPULSE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5E00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291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E00"/>
                </a:solidFill>
                <a:latin typeface="Segoe UI"/>
              </a:defRPr>
            </a:pPr>
            <a:r>
              <a:t>Frontend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React 18, Vite, Tailwind CSS, Lucide Icons, Axios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94560"/>
            <a:ext cx="3291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3317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E00"/>
                </a:solidFill>
                <a:latin typeface="Segoe UI"/>
              </a:defRPr>
            </a:pPr>
            <a:r>
              <a:t>Backend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Python 3.11+, FastAPI (ASGI), Uvicorn, Pydantic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194560"/>
            <a:ext cx="3291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3317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E00"/>
                </a:solidFill>
                <a:latin typeface="Segoe UI"/>
              </a:defRPr>
            </a:pPr>
            <a:r>
              <a:t>AI / ML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FinBERT (ProsusAI), PyTorch, Hugging Face Transformers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3291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E00"/>
                </a:solidFill>
                <a:latin typeface="Segoe UI"/>
              </a:defRPr>
            </a:pPr>
            <a:r>
              <a:t>Database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SQLite 3, SQLAlchemy ORM, Indexed Signal Schema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206240"/>
            <a:ext cx="3291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3434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E00"/>
                </a:solidFill>
                <a:latin typeface="Segoe UI"/>
              </a:defRPr>
            </a:pPr>
            <a:r>
              <a:t>Ingestion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Feedparser, Requests, Regex Ticker Entity Parser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206240"/>
            <a:ext cx="32918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3434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E00"/>
                </a:solidFill>
                <a:latin typeface="Segoe UI"/>
              </a:defRPr>
            </a:pPr>
            <a:r>
              <a:t>Testing &amp; Cloud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Pytest (30 test suites), HTTPX, Vercel, Render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6858000" cy="6858000"/>
          </a:xfrm>
          <a:prstGeom prst="ellipse">
            <a:avLst/>
          </a:prstGeom>
          <a:solidFill>
            <a:srgbClr val="FF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011680" cy="438912"/>
          </a:xfrm>
          <a:prstGeom prst="roundRect">
            <a:avLst/>
          </a:prstGeom>
          <a:solidFill>
            <a:srgbClr val="E651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VIT BHOPAL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5E0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CORE SYSTEM MODULES</a:t>
            </a:r>
          </a:p>
          <a:p>
            <a:pPr>
              <a:defRPr sz="1600">
                <a:solidFill>
                  <a:srgbClr val="FFEDD5"/>
                </a:solidFill>
                <a:latin typeface="Segoe UI"/>
              </a:defRPr>
            </a:pPr>
            <a:r>
              <a:t>Decoupled Microservice Architecture Around RiskPulse Core</a:t>
            </a:r>
          </a:p>
        </p:txBody>
      </p:sp>
      <p:pic>
        <p:nvPicPr>
          <p:cNvPr id="7" name="Picture 6" descr="slide12_module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377440"/>
            <a:ext cx="75895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0" y="502920"/>
            <a:ext cx="20116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E00"/>
                </a:solidFill>
                <a:latin typeface="Segoe UI"/>
              </a:defRPr>
            </a:pPr>
            <a:r>
              <a:t>RISKPULSE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5E00"/>
                </a:solidFill>
                <a:latin typeface="Segoe UI"/>
              </a:defRPr>
            </a:pPr>
            <a:r>
              <a:t>IMPLEMENTATION</a:t>
            </a:r>
            <a:br/>
            <a:r>
              <a:t>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1. Non-Blocking Ingestion:</a:t>
            </a:r>
            <a:br/>
            <a:r>
              <a:t>FastAPI lifespan handlers run background async workers for RSS feeds, ensuring zero latency degradation on user queries.</a:t>
            </a:r>
            <a:br/>
            <a:br/>
            <a:r>
              <a:t>2. Dual-Engine NLP Fallback:</a:t>
            </a:r>
            <a:br/>
            <a:r>
              <a:t>Full FinBERT PyTorch inference with seamless rule-based CPU failover preventing 500 errors.</a:t>
            </a:r>
            <a:br/>
            <a:br/>
            <a:r>
              <a:t>3. Strict Pydantic Data Contracts:</a:t>
            </a:r>
            <a:br/>
            <a:r>
              <a:t>Guarantees rigid schema validation across all REST boundaries.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116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0" y="502920"/>
            <a:ext cx="20116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E00"/>
                </a:solidFill>
                <a:latin typeface="Segoe UI"/>
              </a:defRPr>
            </a:pPr>
            <a:r>
              <a:t>VIT BHOPAL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5E00"/>
                </a:solidFill>
                <a:latin typeface="Segoe UI"/>
              </a:defRPr>
            </a:pPr>
            <a:r>
              <a:t>APPLICATION</a:t>
            </a:r>
            <a:br/>
            <a:r>
              <a:t>INTERFACE</a:t>
            </a:r>
          </a:p>
        </p:txBody>
      </p:sp>
      <p:pic>
        <p:nvPicPr>
          <p:cNvPr id="7" name="Picture 6" descr="ui_crop_sentiment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5120640" cy="3931920"/>
          </a:xfrm>
          <a:prstGeom prst="rect">
            <a:avLst/>
          </a:prstGeom>
        </p:spPr>
      </p:pic>
      <p:pic>
        <p:nvPicPr>
          <p:cNvPr id="8" name="Picture 7" descr="ui_crop_stres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11680"/>
            <a:ext cx="51206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6858000" cy="6858000"/>
          </a:xfrm>
          <a:prstGeom prst="ellipse">
            <a:avLst/>
          </a:prstGeom>
          <a:solidFill>
            <a:srgbClr val="FF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011680" cy="438912"/>
          </a:xfrm>
          <a:prstGeom prst="roundRect">
            <a:avLst/>
          </a:prstGeom>
          <a:solidFill>
            <a:srgbClr val="E651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RISKPULSE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5E0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KEY PLATFORM FEATURES</a:t>
            </a:r>
          </a:p>
          <a:p>
            <a:pPr>
              <a:defRPr sz="1600">
                <a:solidFill>
                  <a:srgbClr val="FFEDD5"/>
                </a:solidFill>
                <a:latin typeface="Segoe UI"/>
              </a:defRPr>
            </a:pPr>
            <a:r>
              <a:t>Institutional Risk Capabilities Built Into RiskPulse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291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E00"/>
                </a:solidFill>
                <a:latin typeface="Segoe UI"/>
              </a:defRPr>
            </a:pPr>
            <a:r>
              <a:t>Real-Time Ingestion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Automated RSS polling with deduplication and mock failover.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743200"/>
            <a:ext cx="3291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85292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E00"/>
                </a:solidFill>
                <a:latin typeface="Segoe UI"/>
              </a:defRPr>
            </a:pPr>
            <a:r>
              <a:t>FinBERT Sentiment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Domain-specific financial polarity (-1.0 to +1.0)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43200"/>
            <a:ext cx="3291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85292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E00"/>
                </a:solidFill>
                <a:latin typeface="Segoe UI"/>
              </a:defRPr>
            </a:pPr>
            <a:r>
              <a:t>Impact Severity (1-10)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Algorithmic risk quantification based on news sentiment magnitude.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3291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9028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E00"/>
                </a:solidFill>
                <a:latin typeface="Segoe UI"/>
              </a:defRPr>
            </a:pPr>
            <a:r>
              <a:t>Ticker &amp; Sector NER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Context-aware mapping of corporate entities to stock symbols.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480560"/>
            <a:ext cx="3291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59028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E00"/>
                </a:solidFill>
                <a:latin typeface="Segoe UI"/>
              </a:defRPr>
            </a:pPr>
            <a:r>
              <a:t>Macro Stress Engine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Simulates Interest Rate Hikes, Tech Selloffs, and Stagflation.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480560"/>
            <a:ext cx="3291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59028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E00"/>
                </a:solidFill>
                <a:latin typeface="Segoe UI"/>
              </a:defRPr>
            </a:pPr>
            <a:r>
              <a:t>VaR &amp; CVaR Metrics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Parametric tail-risk calculations for regulatory compliance.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0" y="502920"/>
            <a:ext cx="20116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E00"/>
                </a:solidFill>
                <a:latin typeface="Segoe UI"/>
              </a:defRPr>
            </a:pPr>
            <a:r>
              <a:t>VIT BHOPAL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5E00"/>
                </a:solidFill>
                <a:latin typeface="Segoe UI"/>
              </a:defRPr>
            </a:pPr>
            <a:r>
              <a:t>EXPERIMENTAL RESULTS</a:t>
            </a:r>
          </a:p>
        </p:txBody>
      </p:sp>
      <p:pic>
        <p:nvPicPr>
          <p:cNvPr id="7" name="Picture 6" descr="slide16_results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1051560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52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E00"/>
                </a:solidFill>
                <a:latin typeface="Segoe UI"/>
              </a:defRPr>
            </a:pPr>
            <a:r>
              <a:t>⚡ Sub-35ms API Latency   |   📈 42.8 docs/sec Ingestion Rate   |   ✅ 30/30 Unit &amp; Integration Tests Passed (100%)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0" y="502920"/>
            <a:ext cx="20116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E00"/>
                </a:solidFill>
                <a:latin typeface="Segoe UI"/>
              </a:defRPr>
            </a:pPr>
            <a:r>
              <a:t>RISKPULSE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5E00"/>
                </a:solidFill>
                <a:latin typeface="Segoe UI"/>
              </a:defRPr>
            </a:pPr>
            <a:r>
              <a:t>ADVANTAGES &amp;</a:t>
            </a:r>
            <a:br/>
            <a:r>
              <a:t>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512064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00"/>
                </a:solidFill>
                <a:latin typeface="Segoe UI"/>
              </a:defRPr>
            </a:pPr>
            <a:r>
              <a:t>CORE ADVANTAGES</a:t>
            </a:r>
          </a:p>
          <a:p>
            <a:br/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• Zero LLM Hallucinations: Deterministic formulas ensure reliable VaR math.</a:t>
            </a:r>
            <a:br/>
            <a:br/>
            <a:r>
              <a:t>• Sub-Second Execution: FastAPI delivers sub-35ms response times.</a:t>
            </a:r>
            <a:br/>
            <a:br/>
            <a:r>
              <a:t>• Basel III &amp; CRISIL Aligned: Meets multi-scenario stress principles.</a:t>
            </a:r>
            <a:br/>
            <a:br/>
            <a:r>
              <a:t>• Accessible &amp; Open: Operates without $25k/yr terminal fees.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Segoe UI"/>
              </a:defRPr>
            </a:pPr>
            <a:r>
              <a:t>CURRENT LIMITATIONS</a:t>
            </a:r>
          </a:p>
          <a:p>
            <a:br/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• Static Asset Betas: Does not yet model intraday GARCH volatility clustering.</a:t>
            </a:r>
            <a:br/>
            <a:br/>
            <a:r>
              <a:t>• Single-Node SQLite Database: Lacks distributed multi-region replication.</a:t>
            </a:r>
            <a:br/>
            <a:br/>
            <a:r>
              <a:t>• Dictionary-Based NER: Relies on curated aliases rather than contextual NER.</a:t>
            </a:r>
            <a:br/>
            <a:br/>
            <a:r>
              <a:t>• Linear Contagion: Follows linear betas rather than liquidity freeze curves.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0" y="502920"/>
            <a:ext cx="20116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E00"/>
                </a:solidFill>
                <a:latin typeface="Segoe UI"/>
              </a:defRPr>
            </a:pPr>
            <a:r>
              <a:t>VIT BHOPAL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5E00"/>
                </a:solidFill>
                <a:latin typeface="Segoe UI"/>
              </a:defRPr>
            </a:pPr>
            <a:r>
              <a:t>FUTURE TRENDS</a:t>
            </a:r>
            <a:br/>
            <a:r>
              <a:t>&amp; ROADMAP</a:t>
            </a:r>
          </a:p>
        </p:txBody>
      </p:sp>
      <p:pic>
        <p:nvPicPr>
          <p:cNvPr id="7" name="Picture 6" descr="slide19_roadmap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515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6858000" cy="6858000"/>
          </a:xfrm>
          <a:prstGeom prst="ellipse">
            <a:avLst/>
          </a:prstGeom>
          <a:solidFill>
            <a:srgbClr val="FF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011680" cy="438912"/>
          </a:xfrm>
          <a:prstGeom prst="roundRect">
            <a:avLst/>
          </a:prstGeom>
          <a:solidFill>
            <a:srgbClr val="E651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VIT BHOPAL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5E0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 &amp; REFERENCES</a:t>
            </a:r>
          </a:p>
          <a:p>
            <a:pPr>
              <a:defRPr sz="1600">
                <a:solidFill>
                  <a:srgbClr val="FFEDD5"/>
                </a:solidFill>
                <a:latin typeface="Segoe UI"/>
              </a:defRPr>
            </a:pPr>
            <a:r>
              <a:t>S&amp;P Global &amp; CRISIL Campus Hackathon 2026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CONCLUSION SUMMARY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• RiskPulse successfully bridges unstructured qualitative news sentiment with quantitative portfolio stress-testing.</a:t>
            </a:r>
            <a:br/>
            <a:r>
              <a:t>• Demonstrated sub-35ms API latencies, high ingestion throughput, and 100% automated test coverage across 30 test suites.</a:t>
            </a:r>
            <a:br/>
            <a:r>
              <a:t>• Proves that modern lightweight AI and asynchronous web architectures can democratize institutional financial risk intelligence.</a:t>
            </a:r>
          </a:p>
          <a:p>
            <a:br/>
            <a:pPr>
              <a:defRPr sz="1400" b="1">
                <a:solidFill>
                  <a:srgbClr val="FFEDD5"/>
                </a:solidFill>
                <a:latin typeface="Segoe UI"/>
              </a:defRPr>
            </a:pPr>
            <a:r>
              <a:t>REFERENCES (IEEE FORMAT)</a:t>
            </a:r>
          </a:p>
          <a:p>
            <a:pPr>
              <a:defRPr sz="1050">
                <a:solidFill>
                  <a:srgbClr val="FFFFFF"/>
                </a:solidFill>
                <a:latin typeface="Segoe UI"/>
              </a:defRPr>
            </a:pPr>
            <a:r>
              <a:t>[1] S. Araci, 'FinBERT: Financial Sentiment Analysis with Pre-trained Language Models,' arXiv:1908.10063, 2019.</a:t>
            </a:r>
            <a:br/>
            <a:r>
              <a:t>[2] T. Loughran and B. McDonald, 'When is a Word Pronounced Negative? A New Financial Dictionary,' J. Finance, 2011.</a:t>
            </a:r>
            <a:br/>
            <a:r>
              <a:t>[3] P. Jorion, Value at Risk: The New Benchmark for Managing Financial Risk, 3rd ed. McGraw-Hill, 2007.</a:t>
            </a:r>
            <a:br/>
            <a:r>
              <a:t>[4] Basel Committee on Banking Supervision, 'Stress testing principles,' Bank for International Settlements, 2018.</a:t>
            </a:r>
          </a:p>
          <a:p>
            <a:br/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LIVE DEPLOYED PLATFORM: https://vit-bhopal-abhi-pandey-s-p-crisil-h.vercel.app/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