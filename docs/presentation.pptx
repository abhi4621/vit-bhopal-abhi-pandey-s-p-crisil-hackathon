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37160" cy="38404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38BDF8"/>
                </a:solidFill>
              </a:defRPr>
            </a:pPr>
            <a:r>
              <a:t>RiskPulse</a:t>
            </a:r>
          </a:p>
          <a:p>
            <a:pPr>
              <a:defRPr sz="2400" b="1">
                <a:solidFill>
                  <a:srgbClr val="F9FAFB"/>
                </a:solidFill>
              </a:defRPr>
            </a:pPr>
            <a:r>
              <a:t>AI/NLP Financial Risk Intelligence &amp; Strategic Portfolio Stress Testing Platform</a:t>
            </a:r>
          </a:p>
          <a:p>
            <a:pPr>
              <a:defRPr sz="1300">
                <a:solidFill>
                  <a:srgbClr val="818CF8"/>
                </a:solidFill>
              </a:defRPr>
            </a:pPr>
            <a:r>
              <a:t>Interpretable NLP Risk Scoring (-1 to +1) • 8-Class Event Taxonomy • Dynamic Module B Stress Testing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108960"/>
            <a:ext cx="4937760" cy="2560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CANDIDATE &amp; INSTITUTION DETAILS</a:t>
            </a:r>
          </a:p>
          <a:p>
            <a:pPr>
              <a:defRPr sz="1200">
                <a:solidFill>
                  <a:srgbClr val="F9FAFB"/>
                </a:solidFill>
              </a:defRPr>
            </a:pPr>
            <a:r>
              <a:t>• Candidate: Abhi Pandey</a:t>
            </a:r>
            <a:br/>
            <a:r>
              <a:t>• College: VIT Bhopal University</a:t>
            </a:r>
            <a:br/>
            <a:r>
              <a:t>• Degree: B.Tech Computer Science &amp; Engineering</a:t>
            </a:r>
            <a:br/>
            <a:r>
              <a:t>  (Artificial Intelligence &amp; Machine Learning)</a:t>
            </a:r>
            <a:br/>
            <a:r>
              <a:t>• Hackathon: S&amp;P Global &amp; CRISIL Campus Hackathon 2026</a:t>
            </a:r>
            <a:br/>
            <a:r>
              <a:t>• Track: AI/NLP-Driven Financial Risk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108960"/>
            <a:ext cx="5120640" cy="2560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320040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</a:defRPr>
            </a:pPr>
            <a:r>
              <a:t>SUBMISSION &amp; ENGINEERING HIGHLIGHTS</a:t>
            </a:r>
          </a:p>
          <a:p>
            <a:pPr>
              <a:defRPr sz="1200">
                <a:solidFill>
                  <a:srgbClr val="F9FAFB"/>
                </a:solidFill>
              </a:defRPr>
            </a:pPr>
            <a:r>
              <a:t>• Fully Completed Technical &amp; Submission Requirements</a:t>
            </a:r>
            <a:br/>
            <a:r>
              <a:t>• Dual-Source Ingestion: Financial News Wire &amp; Social Feed</a:t>
            </a:r>
            <a:br/>
            <a:r>
              <a:t>• Optional Real-Time Public RSS Ingestion with Fallback</a:t>
            </a:r>
            <a:br/>
            <a:r>
              <a:t>• 30/30 Unit &amp; Integration Tests Passed (100% Pass Rate)</a:t>
            </a:r>
            <a:br/>
            <a:r>
              <a:t>• Sub-15ms NLP Inference Latency | Zero Cloud Vendor Lock-in</a:t>
            </a:r>
            <a:br/>
            <a:r>
              <a:t>• Complete End-to-End React 18 + FastAPI + SQLite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Verified Clean Architecture • Deterministic &amp; Explainable • S&amp;P Global &amp; CRISIL Evaluation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CHALLENGE VS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9FAFB"/>
                </a:solidFill>
              </a:defRPr>
            </a:pPr>
            <a:r>
              <a:t>Problem Statement &amp; Solution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4805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THE PROBLEM: LATENCY &amp; BLIND SPOTS</a:t>
            </a:r>
          </a:p>
          <a:p>
            <a:br/>
            <a:pPr>
              <a:defRPr sz="1100">
                <a:solidFill>
                  <a:srgbClr val="F9FAFB"/>
                </a:solidFill>
              </a:defRPr>
            </a:pPr>
            <a:r>
              <a:t>1. Lagging Risk Indicators:</a:t>
            </a:r>
            <a:br/>
            <a:r>
              <a:t>Traditional institutional risk models rely predominantly on quarterly 10-K filings, credit rating updates, and backward-looking financial ratios.</a:t>
            </a:r>
            <a:br/>
            <a:br/>
            <a:r>
              <a:t>2. Unstructured Data Avalanche:</a:t>
            </a:r>
            <a:br/>
            <a:r>
              <a:t>Critical systemic risks emerge first in breaking news wires, social discourse, and regulatory filings—generating massive unstructured noise.</a:t>
            </a:r>
            <a:br/>
            <a:br/>
            <a:r>
              <a:t>3. Fragmented Risk Silos:</a:t>
            </a:r>
            <a:br/>
            <a:r>
              <a:t>Sentiment analysis tools rarely translate textual signals directly into quantified asset haircuts or actionable portfolio stress testing.</a:t>
            </a:r>
            <a:br/>
            <a:br/>
            <a:r>
              <a:t>4. Black-Box Unreliability:</a:t>
            </a:r>
            <a:br/>
            <a:r>
              <a:t>Opaque generative models suffer from hallucination and lack regulatory auditability required by Basel III and CRISIL standards.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4805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THE SOLUTION: DETERMINISTIC RISK INTELLIGENCE</a:t>
            </a:r>
          </a:p>
          <a:p>
            <a:br/>
            <a:pPr>
              <a:defRPr sz="1100">
                <a:solidFill>
                  <a:srgbClr val="F9FAFB"/>
                </a:solidFill>
              </a:defRPr>
            </a:pPr>
            <a:r>
              <a:t>1. Dual-Source + Live RSS Ingestion:</a:t>
            </a:r>
            <a:br/>
            <a:r>
              <a:t>Ingests breaking financial news wire feeds and social/market sentiment, with optional live RSS integration and offline resilience.</a:t>
            </a:r>
            <a:br/>
            <a:br/>
            <a:r>
              <a:t>2. Interpretable Financial NLP Engine:</a:t>
            </a:r>
            <a:br/>
            <a:r>
              <a:t>Zero-hallucination lexicon scoring produces normalized sentiment [-1.0 to +1.0], 8-class event taxonomy, and impact scores [1 to 10].</a:t>
            </a:r>
            <a:br/>
            <a:br/>
            <a:r>
              <a:t>3. Downstream Trigger Integration:</a:t>
            </a:r>
            <a:br/>
            <a:r>
              <a:t>High-impact events (Impact Score &gt;= 7) automatically trigger Module B strategic stress testing without manual intervention.</a:t>
            </a:r>
            <a:br/>
            <a:br/>
            <a:r>
              <a:t>4. Transparent Portfolio Drawdowns:</a:t>
            </a:r>
            <a:br/>
            <a:r>
              <a:t>Dynamically calculates mark-to-market valuations, absolute dollar losses, and percentage drawdowns across a multi-asset portfolio ($1M baseline).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DATA PIPELINE &amp; MODULE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9FAFB"/>
                </a:solidFill>
              </a:defRPr>
            </a:pPr>
            <a:r>
              <a:t>End-to-End System 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772400" cy="50383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78240" y="1371600"/>
            <a:ext cx="2651760" cy="49377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15400" y="1508760"/>
            <a:ext cx="2377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CORE PIPELINE STAGES</a:t>
            </a:r>
          </a:p>
          <a:p>
            <a:br/>
            <a:pPr>
              <a:defRPr sz="950">
                <a:solidFill>
                  <a:srgbClr val="F9FAFB"/>
                </a:solidFill>
              </a:defRPr>
            </a:pPr>
            <a:r>
              <a:t>1. Ingestion Layer:</a:t>
            </a:r>
            <a:br/>
            <a:r>
              <a:t>Multi-source parser handles News, Social, &amp; Live RSS with regex cleaning &amp; entity extraction.</a:t>
            </a:r>
            <a:br/>
            <a:br/>
            <a:r>
              <a:t>2. NLP Risk Engine:</a:t>
            </a:r>
            <a:br/>
            <a:r>
              <a:t>Computes sentiment, classifies into 8 event types, and derives 1-10 impact score.</a:t>
            </a:r>
            <a:br/>
            <a:br/>
            <a:r>
              <a:t>3. Persistence &amp; API:</a:t>
            </a:r>
            <a:br/>
            <a:r>
              <a:t>FastAPI + SQLite store structured signals with sub-15ms query speed.</a:t>
            </a:r>
            <a:br/>
            <a:br/>
            <a:r>
              <a:t>4. Module B Stress Test:</a:t>
            </a:r>
            <a:br/>
            <a:r>
              <a:t>Impact &gt;= 7 triggers multi-asset macro haircuts.</a:t>
            </a:r>
            <a:br/>
            <a:br/>
            <a:r>
              <a:t>5. Institutional UI:</a:t>
            </a:r>
            <a:br/>
            <a:r>
              <a:t>React 18 dashboard displays telemetry, signals, &amp; drawdowns.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PRODUCTION-GRADE SYSTEM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9FAFB"/>
                </a:solidFill>
              </a:defRPr>
            </a:pPr>
            <a:r>
              <a:t>Technical Implementation &amp;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BACKEND &amp; STORAGE LAYER</a:t>
            </a:r>
          </a:p>
          <a:p>
            <a:pPr>
              <a:defRPr sz="1000">
                <a:solidFill>
                  <a:srgbClr val="F9FAFB"/>
                </a:solidFill>
              </a:defRPr>
            </a:pPr>
            <a:r>
              <a:t>• Framework: FastAPI (Python 3.10+) with Uvicorn async ASGI server</a:t>
            </a:r>
            <a:br/>
            <a:r>
              <a:t>• Storage: SQLite with dynamic path resolution (/tmp for serverless Vercel)</a:t>
            </a:r>
            <a:br/>
            <a:r>
              <a:t>• Schemas: Pydantic v2 validation for type-safe requests and responses</a:t>
            </a:r>
            <a:br/>
            <a:r>
              <a:t>• Architecture: RESTful endpoints (/analyze, /signals, /portfolio, /stress-test)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INTERPRETABLE NLP RISK ENGINE</a:t>
            </a:r>
          </a:p>
          <a:p>
            <a:pPr>
              <a:defRPr sz="1000">
                <a:solidFill>
                  <a:srgbClr val="F9FAFB"/>
                </a:solidFill>
              </a:defRPr>
            </a:pPr>
            <a:r>
              <a:t>• Sentiment: Domain-specific financial dictionary [-1.00 to +1.00]</a:t>
            </a:r>
            <a:br/>
            <a:r>
              <a:t>• Event Classifier: 8 classes (Regulatory, Geopolitical, Earnings, Cyber...)</a:t>
            </a:r>
            <a:br/>
            <a:r>
              <a:t>• Impact Formula: Impact = min(10, round(|Sentiment| * 5 + EventWeight * 3 + Conf * 2))</a:t>
            </a:r>
            <a:br/>
            <a:r>
              <a:t>• Determinism: 100% reproducible scoring without stochastic inference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MODULE B: PORTFOLIO STRESS TESTING</a:t>
            </a:r>
          </a:p>
          <a:p>
            <a:pPr>
              <a:defRPr sz="1000">
                <a:solidFill>
                  <a:srgbClr val="F9FAFB"/>
                </a:solidFill>
              </a:defRPr>
            </a:pPr>
            <a:r>
              <a:t>• Baseline Portfolio: $1,000,000 multi-asset allocation (Equities, Tech, Bonds)</a:t>
            </a:r>
            <a:br/>
            <a:r>
              <a:t>• Trigger Gate: Impact Score &gt;= 7 automatically triggers stress scenario</a:t>
            </a:r>
            <a:br/>
            <a:r>
              <a:t>• Haircut Matrix: Asset-specific shocks (e.g., Tech -15%, Equities -8%, Crypto -25%)</a:t>
            </a:r>
            <a:br/>
            <a:r>
              <a:t>• Outputs: Pre-stress, Post-stress valuation, Absolute loss ($), and Drawdown (%)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02336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16052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</a:defRPr>
            </a:pPr>
            <a:r>
              <a:t>FRONTEND DASHBOARD &amp; QUALITY ASSURANCE</a:t>
            </a:r>
          </a:p>
          <a:p>
            <a:pPr>
              <a:defRPr sz="1000">
                <a:solidFill>
                  <a:srgbClr val="F9FAFB"/>
                </a:solidFill>
              </a:defRPr>
            </a:pPr>
            <a:r>
              <a:t>• UI Framework: React 18, Vite build tool, Tailwind CSS, Lucide icons</a:t>
            </a:r>
            <a:br/>
            <a:r>
              <a:t>• Offline Resilience: Local benchmark state fallback ensures zero cold-start failure</a:t>
            </a:r>
            <a:br/>
            <a:r>
              <a:t>• Ingestion Control: Live RSS button triggers external feeds with graceful fallback</a:t>
            </a:r>
            <a:br/>
            <a:r>
              <a:t>• Test Verification: 30/30 automated pytest suite passed across all submodules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QUANTITATIVE PERFORMANCE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9FAFB"/>
                </a:solidFill>
              </a:defRPr>
            </a:pPr>
            <a:r>
              <a:t>Key Measured Results &amp; Empirical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11887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2377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4D399"/>
                </a:solidFill>
              </a:defRPr>
            </a:pPr>
            <a:r>
              <a:t>30 / 30</a:t>
            </a:r>
          </a:p>
          <a:p>
            <a:pPr algn="ctr">
              <a:defRPr sz="900">
                <a:solidFill>
                  <a:srgbClr val="9CA3AF"/>
                </a:solidFill>
              </a:defRPr>
            </a:pPr>
            <a:r>
              <a:t>Automated Tests Passed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8" y="1371600"/>
            <a:ext cx="2560320" cy="11887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1417320"/>
            <a:ext cx="2377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&lt; 15 ms</a:t>
            </a:r>
          </a:p>
          <a:p>
            <a:pPr algn="ctr">
              <a:defRPr sz="900">
                <a:solidFill>
                  <a:srgbClr val="9CA3AF"/>
                </a:solidFill>
              </a:defRPr>
            </a:pPr>
            <a:r>
              <a:t>Avg NLP Inference Latency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371600"/>
            <a:ext cx="2560320" cy="11887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4496" y="1417320"/>
            <a:ext cx="2377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87171"/>
                </a:solidFill>
              </a:defRPr>
            </a:pPr>
            <a:r>
              <a:t>-16.4 %</a:t>
            </a:r>
          </a:p>
          <a:p>
            <a:pPr algn="ctr">
              <a:defRPr sz="900">
                <a:solidFill>
                  <a:srgbClr val="9CA3AF"/>
                </a:solidFill>
              </a:defRPr>
            </a:pPr>
            <a:r>
              <a:t>Max Stress Drawdown ($164k)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78824" y="1371600"/>
            <a:ext cx="2560320" cy="11887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0264" y="1417320"/>
            <a:ext cx="2377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BBF24"/>
                </a:solidFill>
              </a:defRPr>
            </a:pPr>
            <a:r>
              <a:t>100 %</a:t>
            </a:r>
          </a:p>
          <a:p>
            <a:pPr algn="ctr">
              <a:defRPr sz="900">
                <a:solidFill>
                  <a:srgbClr val="9CA3AF"/>
                </a:solidFill>
              </a:defRPr>
            </a:pPr>
            <a:r>
              <a:t>Explainable Auditability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34640"/>
            <a:ext cx="10698480" cy="34747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EMPIRICAL BENCHMARK SIGNALS &amp; STRESS TEST TRIGGERS</a:t>
            </a:r>
          </a:p>
          <a:p>
            <a:br/>
            <a:pPr>
              <a:defRPr sz="1000">
                <a:solidFill>
                  <a:srgbClr val="F9FAFB"/>
                </a:solidFill>
              </a:defRPr>
            </a:pPr>
            <a:r>
              <a:t>Event / Entity          | Source          | Sentiment | Event Type    | Impact | Risk Level | Stress Trigger | Drawdown %</a:t>
            </a:r>
            <a:br/>
            <a:r>
              <a:t>---------------------------------------------------------------------------------------------------------------------------------</a:t>
            </a:r>
            <a:br/>
            <a:r>
              <a:t>NVIDIA DOJ Subpoena     | financial_news  | -0.84     | Regulatory    | 8 / 10 | High       | ACTIVATED      | -16.4 %</a:t>
            </a:r>
            <a:br/>
            <a:r>
              <a:t>Tesla Autonomous Probe  | social_feed     | -0.76     | Regulatory    | 8 / 10 | High       | ACTIVATED      | -14.2 %</a:t>
            </a:r>
            <a:br/>
            <a:r>
              <a:t>CrowdStrike Outage      | financial_news  | -0.92     | Cyber Attack  | 9 / 10 | Severe     | ACTIVATED      | -15.8 %</a:t>
            </a:r>
            <a:br/>
            <a:r>
              <a:t>Taiwan Strait Logistics | financial_news  | -0.71     | Supply Chain  | 7 / 10 | High       | ACTIVATED      | -11.5 %</a:t>
            </a:r>
            <a:br/>
            <a:r>
              <a:t>JPMorgan Earnings Beat  | financial_news  | +0.81     | Earnings      | 3 / 10 | Low        | Bypassed (&lt;7)  | No Stress</a:t>
            </a:r>
            <a:br/>
            <a:r>
              <a:t>Apple Product Launch    | social_feed     | +0.68     | Operational   | 2 / 10 | Low        | Bypassed (&lt;7)  | No Stress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INSTITUTIONAL VALUE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9FAFB"/>
                </a:solidFill>
              </a:defRPr>
            </a:pPr>
            <a:r>
              <a:t>Business Value &amp; Financial Domain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22402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1. EARLY WARNING SURVEILLANCE</a:t>
            </a:r>
          </a:p>
          <a:p>
            <a:br/>
            <a:pPr>
              <a:defRPr sz="1000">
                <a:solidFill>
                  <a:srgbClr val="F9FAFB"/>
                </a:solidFill>
              </a:defRPr>
            </a:pPr>
            <a:r>
              <a:t>Detects emerging counterpart risk and supply chain shocks hours before conventional credit rating agencies update outlooks. Captures early market sentiment shift from social and real-time news channels.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22402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</a:defRPr>
            </a:pPr>
            <a:r>
              <a:t>2. REGULATORY &amp; AUDIT COMPLIANCE</a:t>
            </a:r>
          </a:p>
          <a:p>
            <a:br/>
            <a:pPr>
              <a:defRPr sz="1000">
                <a:solidFill>
                  <a:srgbClr val="F9FAFB"/>
                </a:solidFill>
              </a:defRPr>
            </a:pPr>
            <a:r>
              <a:t>Unlike black-box LLMs, every sentiment score, event category, and impact calculation has a deterministic formula with auditable lexical tokens—aligning with Basel III, CCAR, and CRISIL stress-testing guidelines.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57800" cy="22402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3. DYNAMIC CAPITAL ADEQUACY STRESS TESTING</a:t>
            </a:r>
          </a:p>
          <a:p>
            <a:br/>
            <a:pPr>
              <a:defRPr sz="1000">
                <a:solidFill>
                  <a:srgbClr val="F9FAFB"/>
                </a:solidFill>
              </a:defRPr>
            </a:pPr>
            <a:r>
              <a:t>Bridges qualitative financial journalism directly into quantitative balance sheet haircuts. Automates conditional execution (Impact &gt;= 7) to estimate mark-to-market drawdowns instantly.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31920"/>
            <a:ext cx="5257800" cy="22402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0690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4. ZERO VENDOR LOCK-IN &amp; LOW TCO</a:t>
            </a:r>
          </a:p>
          <a:p>
            <a:br/>
            <a:pPr>
              <a:defRPr sz="1000">
                <a:solidFill>
                  <a:srgbClr val="F9FAFB"/>
                </a:solidFill>
              </a:defRPr>
            </a:pPr>
            <a:r>
              <a:t>Engineered with open-source Python, FastAPI, and SQLite. Operates entirely air-gapped without expensive proprietary API tokens (Bloomberg/Refinitiv), enabling cost-effective institutional deployment.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ETHICAL DISCLOSURE &amp; FUTURE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9FAFB"/>
                </a:solidFill>
              </a:defRPr>
            </a:pPr>
            <a:r>
              <a:t>Limitations &amp; Strategic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BBF24"/>
                </a:solidFill>
              </a:defRPr>
            </a:pPr>
            <a:r>
              <a:t>CURRENT SYSTEM LIMITATIONS</a:t>
            </a:r>
          </a:p>
          <a:p>
            <a:br/>
            <a:pPr>
              <a:defRPr sz="1050">
                <a:solidFill>
                  <a:srgbClr val="F9FAFB"/>
                </a:solidFill>
              </a:defRPr>
            </a:pPr>
            <a:r>
              <a:t>• Rule-Based Lexical Parsing:</a:t>
            </a:r>
            <a:br/>
            <a:r>
              <a:t>While deterministic and fast, dictionary matching does not capture deep linguistic sarcasm, multi-sentence contextual reversals, or complex syntactic negation.</a:t>
            </a:r>
            <a:br/>
            <a:br/>
            <a:r>
              <a:t>• Synthetic Portfolio Calibration:</a:t>
            </a:r>
            <a:br/>
            <a:r>
              <a:t>Stress tests operate against a normalized $1,000,000 multi-asset synthetic benchmark rather than real-time prime brokerage custodian feeds.</a:t>
            </a:r>
            <a:br/>
            <a:br/>
            <a:r>
              <a:t>• Fixed Haircut Matrix:</a:t>
            </a:r>
            <a:br/>
            <a:r>
              <a:t>Scenario shocks are currently calibrated by discrete asset class rather than continuous factor covariance matrices (e.g., Fama-French multi-factor regressions).</a:t>
            </a:r>
            <a:br/>
            <a:br/>
            <a:r>
              <a:t>• Live RSS Availability:</a:t>
            </a:r>
            <a:br/>
            <a:r>
              <a:t>Public financial RSS feeds are subject to third-party network throttles and format changes; hence isolated as an optional toggle with offline fallback.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STRATEGIC ROADMAP &amp; ENHANCEMENTS</a:t>
            </a:r>
          </a:p>
          <a:p>
            <a:br/>
            <a:pPr>
              <a:defRPr sz="1050">
                <a:solidFill>
                  <a:srgbClr val="F9FAFB"/>
                </a:solidFill>
              </a:defRPr>
            </a:pPr>
            <a:r>
              <a:t>1. Hybrid FinBERT / Llama-3 Embeddings:</a:t>
            </a:r>
            <a:br/>
            <a:r>
              <a:t>Integrate quantized local financial transformer models to combine deep contextual awareness with rule-based deterministic guardrails.</a:t>
            </a:r>
            <a:br/>
            <a:br/>
            <a:r>
              <a:t>2. Real-Time Broker &amp; Custodian Integration:</a:t>
            </a:r>
            <a:br/>
            <a:r>
              <a:t>Connect FIX / REST APIs (Interactive Brokers, Alpaca, Bloomberg EMSX) to test live institutional portfolios with custom risk parameters.</a:t>
            </a:r>
            <a:br/>
            <a:br/>
            <a:r>
              <a:t>3. Historical Crisis Backtesting Suite:</a:t>
            </a:r>
            <a:br/>
            <a:r>
              <a:t>Validate shock formulas against historical market stress periods (2008 Lehman collapse, 2020 COVID shock, 2023 SVB banking crisis).</a:t>
            </a:r>
            <a:br/>
            <a:br/>
            <a:r>
              <a:t>4. Value-at-Risk (VaR) &amp; Expected Shortfall (ES):</a:t>
            </a:r>
            <a:br/>
            <a:r>
              <a:t>Upgrade Module B stress engine with Monte Carlo simulations to report parametric 99% VaR and Expected Shortfall under regulatory mandates.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