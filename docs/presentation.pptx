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182880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4389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  <a:latin typeface="Segoe UI"/>
              </a:defRPr>
            </a:pPr>
            <a:r>
              <a:t>S&amp;P GLOBAL &amp; CRISIL HACKATHON 2026</a:t>
            </a:r>
          </a:p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RiskPulse</a:t>
            </a:r>
          </a:p>
          <a:p>
            <a:pPr>
              <a:defRPr sz="1400">
                <a:solidFill>
                  <a:srgbClr val="FFEDD5"/>
                </a:solidFill>
                <a:latin typeface="Segoe UI"/>
              </a:defRPr>
            </a:pPr>
            <a:r>
              <a:t>AI/NLP Financial Risk Intelligence &amp; Strategic Portfolio Stress Testing Platform</a:t>
            </a:r>
          </a:p>
          <a:p>
            <a:br/>
            <a:br/>
            <a:pPr>
              <a:defRPr sz="1100" b="1">
                <a:solidFill>
                  <a:srgbClr val="EA580C"/>
                </a:solidFill>
                <a:latin typeface="Segoe UI"/>
              </a:defRPr>
            </a:pPr>
            <a:r>
              <a:t>Candidate Details:</a:t>
            </a:r>
          </a:p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Abhi Pandey (Reg No: 21BCE10462)</a:t>
            </a:r>
            <a:br/>
            <a:r>
              <a:t>• B.Tech CSE (AI &amp; Machine Learning)</a:t>
            </a:r>
            <a:br/>
            <a:r>
              <a:t>• VIT Bhopal University, Madhya Pradesh</a:t>
            </a:r>
            <a:br/>
            <a:r>
              <a:t>• Final Year Project Review / Viva</a:t>
            </a:r>
          </a:p>
        </p:txBody>
      </p:sp>
      <p:pic>
        <p:nvPicPr>
          <p:cNvPr id="6" name="Picture 5" descr="slide1_hero_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097280"/>
            <a:ext cx="612648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23560" y="5303520"/>
            <a:ext cx="6126480" cy="731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Live Web Platform: https://vit-bhopal-abhi-pandey-s-p-crisil-h.vercel.app/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Project Overview &amp; Value Proposition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2_overview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120640"/>
            <a:ext cx="3200400" cy="8229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1. THE CHALLENGE</a:t>
            </a:r>
            <a:br/>
            <a:r>
              <a:t>80%+ Unstructured Text Ignored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5120640"/>
            <a:ext cx="320040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2. OUR INNOVATION</a:t>
            </a:r>
            <a:br/>
            <a:r>
              <a:t>FinBERT NLP + Macro Stress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5120640"/>
            <a:ext cx="320040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3. MEASURED IMPACT</a:t>
            </a:r>
            <a:br/>
            <a:r>
              <a:t>Sub-35ms Portfolio Drawdown Telemetry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PROBLEM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Problem Statement &amp; Current Difficulties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75504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7550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01. The Latency 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731520" cy="3200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48097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Macro shocks take hours to be reflected in portfolio models, exposing capital to sudden market drawdowns.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5175504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1463040"/>
            <a:ext cx="5175504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72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02. Lexicon Ambiguity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965960"/>
            <a:ext cx="73152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377440"/>
            <a:ext cx="48097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Generic sentiment tools misinterpret financial terminology (e.g. 'liability shrink', 'hawkish pause').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31920"/>
            <a:ext cx="5175504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31920"/>
            <a:ext cx="5175504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0416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03. Siloed Stress Testing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434840"/>
            <a:ext cx="7315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46320"/>
            <a:ext cx="48097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Portfolio stress testing operates as disconnected spreadsheet tasks detached from live breaking news.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2784" y="3931920"/>
            <a:ext cx="5175504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2784" y="3931920"/>
            <a:ext cx="5175504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7376" y="40416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04. Contagion Blindspot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4434840"/>
            <a:ext cx="73152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846320"/>
            <a:ext cx="480974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Single bellwether stock declines trigger unmonitored systemic contagion across correlated supply chains.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PROJECT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Project Motivation &amp; Industry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4_motiva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120640"/>
            <a:ext cx="493776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ACADEMIC &amp; RESEARCH DRIVER</a:t>
            </a:r>
            <a:br/>
            <a:r>
              <a:t>Synthesizing FinBERT Transformer NLP with Econometric VaR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5120640"/>
            <a:ext cx="493776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FINANCIAL INDUSTRY DRIVER</a:t>
            </a:r>
            <a:br/>
            <a:r>
              <a:t>Basel III &amp; CRISIL Compliance: Democratizing Real-Time Stress Testing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Core Technical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3328416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Autonomous Ingestion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91440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Continuous RSS feed extraction with resilient mock streaming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1463040"/>
            <a:ext cx="3328416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FinBERT NLP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1965960"/>
            <a:ext cx="91440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37744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Financial polarity scoring (-1.0 to +1.0) and impact severity rating (1-10).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463040"/>
            <a:ext cx="3328416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Entity &amp; Ticker 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2752" y="1965960"/>
            <a:ext cx="91440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7744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Sector-aware entity mapping translating corporate mentions to equity tickers.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931920"/>
            <a:ext cx="3328416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Macro Stress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434840"/>
            <a:ext cx="914400" cy="3200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4632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Dynamic scenario modeling (Rate Hikes, Stagflation) with Beta-weighted repricing.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93192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Tail Risk Quantification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08576" y="4434840"/>
            <a:ext cx="91440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484632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Parametric Value-at-Risk (VaR) and Expected Shortfall (CVaR) calculations.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9872" y="3931920"/>
            <a:ext cx="3328416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Cloud Verification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2752" y="4434840"/>
            <a:ext cx="91440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OBJ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846320"/>
            <a:ext cx="296265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Reactive React 18 dashboard with 100% test coverage (30/30 unit tests).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Existing Systems vs. Systemic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62095"/>
              </a:tblGrid>
              <a:tr h="11658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Existing Solution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Traditional Operating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Critical Limitations &amp; Gaps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Bloomberg / Refinitiv Terminals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Manual analyst review &amp; closed proprietary systems.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Excessive cost ($25k+/yr); human-speed latency; closed black-box code.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Legacy Statistical VaR (RiskMetrics)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Computes risk strictly from backward-looking historical prices.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Completely blind to breaking news catalysts until market prices drop.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Generic NLP Tools (VADER / TextBlob)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Off-the-shelf lexicon scoring trained on social media text.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High false-positive rate on financial lexicon; no portfolio stress linkage.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SYSTEM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Proposed Solution: RiskPulse Concept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7_concep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394960"/>
            <a:ext cx="4937760" cy="7315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Autonomous Pipeline: End-to-End Real-Time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5394960"/>
            <a:ext cx="493776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Transparent Econometrics: Deterministic Stress Mathematics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 &amp; Data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4937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463040"/>
            <a:ext cx="3108960" cy="1463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TIER 1: INGESTION</a:t>
            </a:r>
            <a:br/>
            <a:r>
              <a:t>• Async RSS Feed Polling</a:t>
            </a:r>
            <a:br/>
            <a:r>
              <a:t>• MD5 Hash Deduplication</a:t>
            </a:r>
            <a:br/>
            <a:r>
              <a:t>• Synthetic Fallback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108960"/>
            <a:ext cx="3108960" cy="1463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TIER 2: INTELLIGENCE</a:t>
            </a:r>
            <a:br/>
            <a:r>
              <a:t>• FinBERT Transformer</a:t>
            </a:r>
            <a:br/>
            <a:r>
              <a:t>• Polarity S in [-1.0, +1.0]</a:t>
            </a:r>
            <a:br/>
            <a:r>
              <a:t>• Impact Score (1-10) &amp; 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4754880"/>
            <a:ext cx="310896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TIER 3: SIMULATION &amp; UI</a:t>
            </a:r>
            <a:br/>
            <a:r>
              <a:t>• Macro Shocks &amp; Beta Scaling</a:t>
            </a:r>
            <a:br/>
            <a:r>
              <a:t>• VaR / CVaR Recalculation</a:t>
            </a:r>
            <a:br/>
            <a:r>
              <a:t>• React 18 / Tailwind Client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EXECUTION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Sequential Execution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9_workflow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486400"/>
            <a:ext cx="10332720" cy="640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Fully Asynchronous Execution: Non-blocking feed polling guarantees sub-35ms API response times.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Methodology &amp; Quantitative Formulations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10_methodology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029200"/>
            <a:ext cx="4937760" cy="1280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5029200"/>
            <a:ext cx="493776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5138928"/>
            <a:ext cx="46085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1. Sentiment &amp; Severity Formulation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492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Polarity: S = P(Pos) - P(Neg) ∈ [-1.0, +1.0]</a:t>
            </a:r>
            <a:br/>
            <a:r>
              <a:t>• Severity: I = round(1 + 9·|S|·C_event) ∈ [1, 10]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5029200"/>
            <a:ext cx="4937760" cy="1280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5029200"/>
            <a:ext cx="493776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5138928"/>
            <a:ext cx="46085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2. Asset Shock &amp; Tail Risk (VaR)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349240"/>
            <a:ext cx="4663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Asset Shock: ΔP_i = Base_Shock · β_i · (1 + I_i / 10)</a:t>
            </a:r>
            <a:br/>
            <a:r>
              <a:t>• Portfolio VaR: VaR_α = V_p · z_α · σ_p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Comprehensive 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3328416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React 18, Vite, Tailwind CSS,</a:t>
            </a:r>
            <a:br/>
            <a:r>
              <a:t>Lucide Icons, Axios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1463040"/>
            <a:ext cx="3328416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1965960"/>
            <a:ext cx="109728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Python 3.11+, FastAPI (ASGI),</a:t>
            </a:r>
            <a:br/>
            <a:r>
              <a:t>Uvicorn, Pydantic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463040"/>
            <a:ext cx="3328416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AI / 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2752" y="1965960"/>
            <a:ext cx="109728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FinBERT (ProsusAI), PyTorch,</a:t>
            </a:r>
            <a:br/>
            <a:r>
              <a:t>Hugging Face Transformers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931920"/>
            <a:ext cx="3328416" cy="7315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Database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434840"/>
            <a:ext cx="109728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SQLite 3, SQLAlchemy ORM,</a:t>
            </a:r>
            <a:br/>
            <a:r>
              <a:t>Indexed Signal 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931920"/>
            <a:ext cx="3328416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Ingestion &amp; Feeds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08576" y="4434840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Feedparser, Requests,</a:t>
            </a:r>
            <a:br/>
            <a:r>
              <a:t>Regex Ticker Parser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9872" y="393192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Testing &amp; Deploy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2752" y="4434840"/>
            <a:ext cx="109728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Pytest (30 test suites), HTTPX,</a:t>
            </a:r>
            <a:br/>
            <a:r>
              <a:t>Vercel, Render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SYSTEM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Core Functional Modules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12_module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850392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828800" y="6035040"/>
            <a:ext cx="850392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Decoupled Microservice Design: Each module operates independently with verified API contracts.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Implementation &amp; Engineering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2064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47914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Core Implementation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1. Non-Blocking Ingestion:</a:t>
            </a:r>
            <a:br/>
            <a:r>
              <a:t>• FastAPI lifespan handlers run background async workers for RSS feeds.</a:t>
            </a:r>
            <a:br/>
            <a:r>
              <a:t>• Guarantees zero latency degradation for user queries.</a:t>
            </a:r>
            <a:br/>
            <a:br/>
            <a:r>
              <a:t>2. Dual-Engine NLP Fallback:</a:t>
            </a:r>
            <a:br/>
            <a:r>
              <a:t>• Primary: Full FinBERT PyTorch inference.</a:t>
            </a:r>
            <a:br/>
            <a:r>
              <a:t>• Secondary: Rule-based CPU lexicon fallback preventing downtime.</a:t>
            </a:r>
            <a:br/>
            <a:br/>
            <a:r>
              <a:t>3. Strict Pydantic Data Contracts:</a:t>
            </a:r>
            <a:br/>
            <a:r>
              <a:t>• Rigid schema validation across all endpoints ensures zero malformed data.</a:t>
            </a:r>
          </a:p>
        </p:txBody>
      </p:sp>
      <p:pic>
        <p:nvPicPr>
          <p:cNvPr id="11" name="Picture 10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APPLICATION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Live Application Dashboard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i_crop_sentiment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3931920"/>
          </a:xfrm>
          <a:prstGeom prst="rect">
            <a:avLst/>
          </a:prstGeom>
        </p:spPr>
      </p:pic>
      <p:pic>
        <p:nvPicPr>
          <p:cNvPr id="8" name="Picture 7" descr="ui_crop_stress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120640" cy="3931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39496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PANEL 1: Real-Time Signal Stream &amp; Polarity Gauge</a:t>
            </a:r>
            <a:br/>
            <a:r>
              <a:t>Live headline ingestion, sentiment chips, and market polarity meter.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539496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172A"/>
                </a:solidFill>
                <a:latin typeface="Segoe UI"/>
              </a:defRPr>
            </a:pPr>
            <a:r>
              <a:t>PANEL 2: Macro Stress Selector &amp; Loss Heatmap</a:t>
            </a:r>
            <a:br/>
            <a:r>
              <a:t>Interactive scenario shock buttons, asset repricing, and VaR telemetry.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Platform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3328416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Real-Time Ingestion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100584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Automated RSS polling with deduplication and mock failover.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1463040"/>
            <a:ext cx="3328416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FinBERT Sentiment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1965960"/>
            <a:ext cx="100584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Domain-specific financial polarity (-1.0 to +1.0) classification.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46304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463040"/>
            <a:ext cx="3328416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5727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Impact Severity (1-10)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2752" y="1965960"/>
            <a:ext cx="1005840" cy="3200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Algorithmic risk quantification based on news sentiment magnitude.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931920"/>
            <a:ext cx="3328416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Ticker &amp; Sector NER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434840"/>
            <a:ext cx="10058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Context-aware mapping of corporate entities to stock symbols.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696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25696" y="393192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Macro Stress Engine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08576" y="4434840"/>
            <a:ext cx="10058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Simulates Interest Rate Hikes, Tech Selloffs, and Stagflation.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9872" y="3931920"/>
            <a:ext cx="3328416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9872" y="3931920"/>
            <a:ext cx="3328416" cy="7315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04164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VaR &amp; CVaR Metrics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2752" y="4434840"/>
            <a:ext cx="100584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892040"/>
            <a:ext cx="29626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Parametric tail-risk calculations for regulatory compliance.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EXPERIMENTAL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Quantitative Results &amp; Benchmarks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16_results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394960"/>
            <a:ext cx="320040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⚡ &lt; 35 ms</a:t>
            </a:r>
            <a:br/>
            <a:r>
              <a:t>Average REST API Latency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5394960"/>
            <a:ext cx="3200400" cy="8229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📈 42.8 docs/sec</a:t>
            </a:r>
            <a:br/>
            <a:r>
              <a:t>Ingestion &amp; Scoring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5394960"/>
            <a:ext cx="320040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✅ 30 / 30 Tests</a:t>
            </a:r>
            <a:br/>
            <a:r>
              <a:t>100% Automated Test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Technical Advantages &amp; Current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5175504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Core Technical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Zero LLM Hallucinations:</a:t>
            </a:r>
            <a:br/>
            <a:r>
              <a:t>  Deterministic econometric formulas guarantee reliable VaR math.</a:t>
            </a:r>
            <a:br/>
            <a:br/>
            <a:r>
              <a:t>• Sub-Second Execution:</a:t>
            </a:r>
            <a:br/>
            <a:r>
              <a:t>  FastAPI ASGI architecture delivers sub-35ms response times.</a:t>
            </a:r>
            <a:br/>
            <a:br/>
            <a:r>
              <a:t>• Basel III &amp; CRISIL Aligned:</a:t>
            </a:r>
            <a:br/>
            <a:r>
              <a:t>  Meets regulatory principles for multi-factor stress testing.</a:t>
            </a:r>
            <a:br/>
            <a:br/>
            <a:r>
              <a:t>• Accessible &amp; Open:</a:t>
            </a:r>
            <a:br/>
            <a:r>
              <a:t>  Operates on standard hardware without $25k/yr terminal fees.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463040"/>
            <a:ext cx="5175504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5727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Current Technical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Static Asset Betas:</a:t>
            </a:r>
            <a:br/>
            <a:r>
              <a:t>  Does not yet model intraday volatility clustering (GARCH).</a:t>
            </a:r>
            <a:br/>
            <a:br/>
            <a:r>
              <a:t>• Single-Node SQLite Database:</a:t>
            </a:r>
            <a:br/>
            <a:r>
              <a:t>  Lacks distributed multi-region write replication.</a:t>
            </a:r>
            <a:br/>
            <a:br/>
            <a:r>
              <a:t>• Dictionary-Based NER:</a:t>
            </a:r>
            <a:br/>
            <a:r>
              <a:t>  Ticker mapping relies on curated aliases rather than contextual BERT NER.</a:t>
            </a:r>
            <a:br/>
            <a:br/>
            <a:r>
              <a:t>• Linear Contagion Factor:</a:t>
            </a:r>
            <a:br/>
            <a:r>
              <a:t>  Spillover follows linear betas rather than liquidity freeze curves.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CHALLENGES OVERCOME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Challenges &amp; Resolutions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72865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1039947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1. Inconsistent RSS News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CHALLENGE: Upstream financial publishers use conflicting date schemas and corrupt characters.</a:t>
            </a:r>
            <a:br/>
            <a:r>
              <a:t>RESOLUTION: Built robust normalization wrappers and MD5 deduplication hash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63240"/>
            <a:ext cx="10728655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1072865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72968"/>
            <a:ext cx="1039947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2. FinBERT Cloud Memory Footprint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CHALLENGE: Heavy PyTorch model weights threatened out-of-memory crashes on free cloud tiers.</a:t>
            </a:r>
            <a:br/>
            <a:r>
              <a:t>RESOLUTION: Engineered lightweight rule-based CPU fallback with seamless failover logic.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10728655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663440"/>
            <a:ext cx="10728655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773168"/>
            <a:ext cx="1039947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3. Vercel API Routing Rewrites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CHALLENGE: Frontend single-page rewrites initially masked independent FastAPI endpoints.</a:t>
            </a:r>
            <a:br/>
            <a:r>
              <a:t>RESOLUTION: Configured dynamic environment base URLs and explicit serverless route rules.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Future Scope &amp; Strategic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19_roadmap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3272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5394960"/>
            <a:ext cx="10332720" cy="731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Target Horizon: Transitioning from real-time monitoring to automated algorithmic hedging.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Conclusion &amp; Academic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1645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BRIDGED NLP &amp; RISK</a:t>
            </a:r>
            <a:br/>
            <a:r>
              <a:t>Successfully connects unstructured market text directly to quantitative portfolio stress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VERIFIED BENCHMARKS</a:t>
            </a:r>
            <a:br/>
            <a:r>
              <a:t>Sub-35ms API latency, 42.8 docs/sec throughput, and 100% automated test suite pass 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1645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PRACTICAL VIABILITY</a:t>
            </a:r>
            <a:br/>
            <a:r>
              <a:t>Democratizes institutional-grade risk analytics on open-source cloud architectures.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8655" cy="27432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383280"/>
            <a:ext cx="10728655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493008"/>
            <a:ext cx="1039947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Academic References (IEEE Style)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[1] S. Araci, 'FinBERT: Financial Sentiment Analysis with Pre-trained Language Models,' arXiv:1908.10063, 2019.</a:t>
            </a:r>
            <a:br/>
            <a:r>
              <a:t>[2] T. Loughran and B. McDonald, 'When is a Word Pronounced Negative? A New Financial Dictionary,' The Journal of Finance, 2011.</a:t>
            </a:r>
            <a:br/>
            <a:r>
              <a:t>[3] P. Jorion, Value at Risk: The New Benchmark for Managing Financial Risk, 3rd ed. New York: McGraw-Hill, 2007.</a:t>
            </a:r>
            <a:br/>
            <a:r>
              <a:t>[4] Basel Committee on Banking Supervision, 'Stress testing principles,' Bank for International Settlements, Tech. Rep., 2018.</a:t>
            </a:r>
            <a:br/>
            <a:r>
              <a:t>[5] F. J. Fabozzi, P. N. Kolm, and D. A. Pachamanova, Robust Portfolio Optimization and Asset Management. John Wiley &amp; Sons, 2007.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